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85" r:id="rId3"/>
  </p:sldMasterIdLst>
  <p:notesMasterIdLst>
    <p:notesMasterId r:id="rId25"/>
  </p:notesMasterIdLst>
  <p:sldIdLst>
    <p:sldId id="280" r:id="rId4"/>
    <p:sldId id="279" r:id="rId5"/>
    <p:sldId id="257" r:id="rId6"/>
    <p:sldId id="281"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5" r:id="rId22"/>
    <p:sldId id="276" r:id="rId23"/>
    <p:sldId id="282"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2C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84" autoAdjust="0"/>
    <p:restoredTop sz="94660"/>
  </p:normalViewPr>
  <p:slideViewPr>
    <p:cSldViewPr snapToGrid="0">
      <p:cViewPr varScale="1">
        <p:scale>
          <a:sx n="72" d="100"/>
          <a:sy n="72" d="100"/>
        </p:scale>
        <p:origin x="67" y="26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FA3797-872C-47C4-85CC-A7A373325DBF}" type="datetimeFigureOut">
              <a:rPr lang="en-US" smtClean="0"/>
              <a:pPr/>
              <a:t>3/30/2020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36E7A3-2378-4B71-B4BC-0FE0947082EB}" type="slidenum">
              <a:rPr lang="en-US" smtClean="0"/>
              <a:pPr/>
              <a:t>‹#›</a:t>
            </a:fld>
            <a:endParaRPr lang="en-US"/>
          </a:p>
        </p:txBody>
      </p:sp>
    </p:spTree>
    <p:extLst>
      <p:ext uri="{BB962C8B-B14F-4D97-AF65-F5344CB8AC3E}">
        <p14:creationId xmlns:p14="http://schemas.microsoft.com/office/powerpoint/2010/main" val="2819678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85737A5-5340-4225-8334-16B1B1261320}" type="slidenum">
              <a:rPr lang="en-US" smtClean="0"/>
              <a:pPr>
                <a:defRPr/>
              </a:pPr>
              <a:t>3</a:t>
            </a:fld>
            <a:endParaRPr lang="en-US"/>
          </a:p>
        </p:txBody>
      </p:sp>
    </p:spTree>
    <p:extLst>
      <p:ext uri="{BB962C8B-B14F-4D97-AF65-F5344CB8AC3E}">
        <p14:creationId xmlns:p14="http://schemas.microsoft.com/office/powerpoint/2010/main" val="1050148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21075" y="85726"/>
            <a:ext cx="5534025" cy="3533775"/>
          </a:xfrm>
          <a:prstGeom prst="rect">
            <a:avLst/>
          </a:prstGeom>
        </p:spPr>
      </p:pic>
      <p:sp>
        <p:nvSpPr>
          <p:cNvPr id="2" name="Title 1"/>
          <p:cNvSpPr>
            <a:spLocks noGrp="1"/>
          </p:cNvSpPr>
          <p:nvPr>
            <p:ph type="ctrTitle" hasCustomPrompt="1"/>
          </p:nvPr>
        </p:nvSpPr>
        <p:spPr>
          <a:xfrm>
            <a:off x="155575" y="2951163"/>
            <a:ext cx="7772400" cy="2387600"/>
          </a:xfrm>
        </p:spPr>
        <p:txBody>
          <a:bodyPr anchor="b">
            <a:noAutofit/>
          </a:bodyPr>
          <a:lstStyle>
            <a:lvl1pPr algn="l">
              <a:defRPr sz="6600" b="0">
                <a:solidFill>
                  <a:schemeClr val="tx1"/>
                </a:solidFill>
                <a:latin typeface="Impact" panose="020B0806030902050204" pitchFamily="34" charset="0"/>
                <a:ea typeface="Gungsuh" panose="02030600000101010101" pitchFamily="18" charset="-127"/>
              </a:defRPr>
            </a:lvl1pPr>
          </a:lstStyle>
          <a:p>
            <a:r>
              <a:rPr lang="en-US" dirty="0"/>
              <a:t>Lecture 01</a:t>
            </a:r>
            <a:br>
              <a:rPr lang="en-US" dirty="0"/>
            </a:br>
            <a:r>
              <a:rPr lang="en-US" dirty="0"/>
              <a:t>Click to edit Master title style</a:t>
            </a:r>
          </a:p>
        </p:txBody>
      </p:sp>
      <p:sp>
        <p:nvSpPr>
          <p:cNvPr id="3" name="Subtitle 2"/>
          <p:cNvSpPr>
            <a:spLocks noGrp="1"/>
          </p:cNvSpPr>
          <p:nvPr>
            <p:ph type="subTitle" idx="1"/>
          </p:nvPr>
        </p:nvSpPr>
        <p:spPr>
          <a:xfrm>
            <a:off x="155574" y="5443538"/>
            <a:ext cx="4352925" cy="411162"/>
          </a:xfrm>
        </p:spPr>
        <p:txBody>
          <a:bodyPr/>
          <a:lstStyle>
            <a:lvl1pPr marL="0" indent="0" algn="l">
              <a:buNone/>
              <a:defRPr sz="2400">
                <a:solidFill>
                  <a:schemeClr val="tx1"/>
                </a:solidFill>
                <a:latin typeface="Britannic Bold" panose="020B0903060703020204" pitchFamily="34" charset="0"/>
                <a:ea typeface="Verdana" panose="020B0604030504040204" pitchFamily="34" charset="0"/>
                <a:cs typeface="Aharoni" panose="02010803020104030203" pitchFamily="2" charset="-79"/>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4" name="Date Placeholder 3"/>
          <p:cNvSpPr>
            <a:spLocks noGrp="1"/>
          </p:cNvSpPr>
          <p:nvPr>
            <p:ph type="dt" sz="half" idx="10"/>
          </p:nvPr>
        </p:nvSpPr>
        <p:spPr/>
        <p:txBody>
          <a:bodyPr/>
          <a:lstStyle/>
          <a:p>
            <a:fld id="{7F0EFFA2-600D-494C-ABE9-5EAC64BA1475}" type="datetimeFigureOut">
              <a:rPr lang="en-US" smtClean="0"/>
              <a:pPr/>
              <a:t>3/30/2020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B7FB1F-0B1F-427A-8C2D-34012998026E}" type="slidenum">
              <a:rPr lang="en-US" smtClean="0"/>
              <a:pPr/>
              <a:t>‹#›</a:t>
            </a:fld>
            <a:endParaRPr lang="en-US"/>
          </a:p>
        </p:txBody>
      </p:sp>
    </p:spTree>
    <p:extLst>
      <p:ext uri="{BB962C8B-B14F-4D97-AF65-F5344CB8AC3E}">
        <p14:creationId xmlns:p14="http://schemas.microsoft.com/office/powerpoint/2010/main" val="3873991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F0EFFA2-600D-494C-ABE9-5EAC64BA1475}" type="datetimeFigureOut">
              <a:rPr lang="en-US" smtClean="0"/>
              <a:pPr/>
              <a:t>3/30/2020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B7FB1F-0B1F-427A-8C2D-34012998026E}" type="slidenum">
              <a:rPr lang="en-US" smtClean="0"/>
              <a:pPr/>
              <a:t>‹#›</a:t>
            </a:fld>
            <a:endParaRPr lang="en-US"/>
          </a:p>
        </p:txBody>
      </p:sp>
    </p:spTree>
    <p:extLst>
      <p:ext uri="{BB962C8B-B14F-4D97-AF65-F5344CB8AC3E}">
        <p14:creationId xmlns:p14="http://schemas.microsoft.com/office/powerpoint/2010/main" val="1669695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0EFFA2-600D-494C-ABE9-5EAC64BA1475}" type="datetimeFigureOut">
              <a:rPr lang="en-US" smtClean="0"/>
              <a:pPr/>
              <a:t>3/30/2020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B7FB1F-0B1F-427A-8C2D-34012998026E}" type="slidenum">
              <a:rPr lang="en-US" smtClean="0"/>
              <a:pPr/>
              <a:t>‹#›</a:t>
            </a:fld>
            <a:endParaRPr lang="en-US"/>
          </a:p>
        </p:txBody>
      </p:sp>
    </p:spTree>
    <p:extLst>
      <p:ext uri="{BB962C8B-B14F-4D97-AF65-F5344CB8AC3E}">
        <p14:creationId xmlns:p14="http://schemas.microsoft.com/office/powerpoint/2010/main" val="2839539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0EFFA2-600D-494C-ABE9-5EAC64BA1475}" type="datetimeFigureOut">
              <a:rPr lang="en-US" smtClean="0"/>
              <a:pPr/>
              <a:t>3/30/2020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B7FB1F-0B1F-427A-8C2D-34012998026E}" type="slidenum">
              <a:rPr lang="en-US" smtClean="0"/>
              <a:pPr/>
              <a:t>‹#›</a:t>
            </a:fld>
            <a:endParaRPr lang="en-US"/>
          </a:p>
        </p:txBody>
      </p:sp>
    </p:spTree>
    <p:extLst>
      <p:ext uri="{BB962C8B-B14F-4D97-AF65-F5344CB8AC3E}">
        <p14:creationId xmlns:p14="http://schemas.microsoft.com/office/powerpoint/2010/main" val="2945346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0EFFA2-600D-494C-ABE9-5EAC64BA1475}" type="datetimeFigureOut">
              <a:rPr lang="en-US" smtClean="0"/>
              <a:pPr/>
              <a:t>3/30/2020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B7FB1F-0B1F-427A-8C2D-34012998026E}" type="slidenum">
              <a:rPr lang="en-US" smtClean="0"/>
              <a:pPr/>
              <a:t>‹#›</a:t>
            </a:fld>
            <a:endParaRPr lang="en-US"/>
          </a:p>
        </p:txBody>
      </p:sp>
    </p:spTree>
    <p:extLst>
      <p:ext uri="{BB962C8B-B14F-4D97-AF65-F5344CB8AC3E}">
        <p14:creationId xmlns:p14="http://schemas.microsoft.com/office/powerpoint/2010/main" val="3186198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0EFFA2-600D-494C-ABE9-5EAC64BA1475}" type="datetimeFigureOut">
              <a:rPr lang="en-US" smtClean="0"/>
              <a:pPr/>
              <a:t>3/30/2020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B7FB1F-0B1F-427A-8C2D-34012998026E}" type="slidenum">
              <a:rPr lang="en-US" smtClean="0"/>
              <a:pPr/>
              <a:t>‹#›</a:t>
            </a:fld>
            <a:endParaRPr lang="en-US"/>
          </a:p>
        </p:txBody>
      </p:sp>
    </p:spTree>
    <p:extLst>
      <p:ext uri="{BB962C8B-B14F-4D97-AF65-F5344CB8AC3E}">
        <p14:creationId xmlns:p14="http://schemas.microsoft.com/office/powerpoint/2010/main" val="4272011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0EFFA2-600D-494C-ABE9-5EAC64BA1475}" type="datetimeFigureOut">
              <a:rPr lang="en-US" smtClean="0"/>
              <a:pPr/>
              <a:t>3/30/2020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B7FB1F-0B1F-427A-8C2D-34012998026E}" type="slidenum">
              <a:rPr lang="en-US" smtClean="0"/>
              <a:pPr/>
              <a:t>‹#›</a:t>
            </a:fld>
            <a:endParaRPr lang="en-US"/>
          </a:p>
        </p:txBody>
      </p:sp>
    </p:spTree>
    <p:extLst>
      <p:ext uri="{BB962C8B-B14F-4D97-AF65-F5344CB8AC3E}">
        <p14:creationId xmlns:p14="http://schemas.microsoft.com/office/powerpoint/2010/main" val="1546021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0EFFA2-600D-494C-ABE9-5EAC64BA1475}" type="datetimeFigureOut">
              <a:rPr lang="en-US" smtClean="0"/>
              <a:pPr/>
              <a:t>3/30/2020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B7FB1F-0B1F-427A-8C2D-34012998026E}" type="slidenum">
              <a:rPr lang="en-US" smtClean="0"/>
              <a:pPr/>
              <a:t>‹#›</a:t>
            </a:fld>
            <a:endParaRPr lang="en-US"/>
          </a:p>
        </p:txBody>
      </p:sp>
    </p:spTree>
    <p:extLst>
      <p:ext uri="{BB962C8B-B14F-4D97-AF65-F5344CB8AC3E}">
        <p14:creationId xmlns:p14="http://schemas.microsoft.com/office/powerpoint/2010/main" val="4074841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0EFFA2-600D-494C-ABE9-5EAC64BA1475}" type="datetimeFigureOut">
              <a:rPr lang="en-US" smtClean="0"/>
              <a:pPr/>
              <a:t>3/30/2020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B7FB1F-0B1F-427A-8C2D-34012998026E}" type="slidenum">
              <a:rPr lang="en-US" smtClean="0"/>
              <a:pPr/>
              <a:t>‹#›</a:t>
            </a:fld>
            <a:endParaRPr lang="en-US"/>
          </a:p>
        </p:txBody>
      </p:sp>
    </p:spTree>
    <p:extLst>
      <p:ext uri="{BB962C8B-B14F-4D97-AF65-F5344CB8AC3E}">
        <p14:creationId xmlns:p14="http://schemas.microsoft.com/office/powerpoint/2010/main" val="4123081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0EFFA2-600D-494C-ABE9-5EAC64BA1475}" type="datetimeFigureOut">
              <a:rPr lang="en-US" smtClean="0"/>
              <a:pPr/>
              <a:t>3/30/2020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B7FB1F-0B1F-427A-8C2D-34012998026E}" type="slidenum">
              <a:rPr lang="en-US" smtClean="0"/>
              <a:pPr/>
              <a:t>‹#›</a:t>
            </a:fld>
            <a:endParaRPr lang="en-US"/>
          </a:p>
        </p:txBody>
      </p:sp>
    </p:spTree>
    <p:extLst>
      <p:ext uri="{BB962C8B-B14F-4D97-AF65-F5344CB8AC3E}">
        <p14:creationId xmlns:p14="http://schemas.microsoft.com/office/powerpoint/2010/main" val="91413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0EFFA2-600D-494C-ABE9-5EAC64BA1475}" type="datetimeFigureOut">
              <a:rPr lang="en-US" smtClean="0"/>
              <a:pPr/>
              <a:t>3/30/2020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B7FB1F-0B1F-427A-8C2D-34012998026E}" type="slidenum">
              <a:rPr lang="en-US" smtClean="0"/>
              <a:pPr/>
              <a:t>‹#›</a:t>
            </a:fld>
            <a:endParaRPr lang="en-US"/>
          </a:p>
        </p:txBody>
      </p:sp>
    </p:spTree>
    <p:extLst>
      <p:ext uri="{BB962C8B-B14F-4D97-AF65-F5344CB8AC3E}">
        <p14:creationId xmlns:p14="http://schemas.microsoft.com/office/powerpoint/2010/main" val="6832076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54324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6078D7EE-3920-4FDB-85A8-EB0EA41DC486}" type="datetimeFigureOut">
              <a:rPr lang="en-US" smtClean="0">
                <a:solidFill>
                  <a:srgbClr val="696464"/>
                </a:solidFill>
              </a:rPr>
              <a:pPr/>
              <a:t>3/30/2020</a:t>
            </a:fld>
            <a:endParaRPr lang="en-US">
              <a:solidFill>
                <a:srgbClr val="696464"/>
              </a:solidFill>
            </a:endParaRPr>
          </a:p>
        </p:txBody>
      </p:sp>
      <p:sp>
        <p:nvSpPr>
          <p:cNvPr id="17" name="Footer Placeholder 16"/>
          <p:cNvSpPr>
            <a:spLocks noGrp="1"/>
          </p:cNvSpPr>
          <p:nvPr>
            <p:ph type="ftr" sz="quarter" idx="11"/>
          </p:nvPr>
        </p:nvSpPr>
        <p:spPr/>
        <p:txBody>
          <a:bodyPr/>
          <a:lstStyle/>
          <a:p>
            <a:endParaRPr lang="en-US">
              <a:solidFill>
                <a:srgbClr val="696464"/>
              </a:solidFill>
            </a:endParaRP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2B8E5560-3675-411B-BF93-143A178CEB51}"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24348137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6078D7EE-3920-4FDB-85A8-EB0EA41DC486}" type="datetimeFigureOut">
              <a:rPr lang="en-US" smtClean="0">
                <a:solidFill>
                  <a:srgbClr val="696464"/>
                </a:solidFill>
              </a:rPr>
              <a:pPr/>
              <a:t>3/30/2020</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2B8E5560-3675-411B-BF93-143A178CEB51}"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969309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6078D7EE-3920-4FDB-85A8-EB0EA41DC486}" type="datetimeFigureOut">
              <a:rPr lang="en-US" smtClean="0">
                <a:solidFill>
                  <a:srgbClr val="696464"/>
                </a:solidFill>
              </a:rPr>
              <a:pPr/>
              <a:t>3/30/2020</a:t>
            </a:fld>
            <a:endParaRPr lang="en-US">
              <a:solidFill>
                <a:srgbClr val="696464"/>
              </a:solidFill>
            </a:endParaRPr>
          </a:p>
        </p:txBody>
      </p:sp>
      <p:sp>
        <p:nvSpPr>
          <p:cNvPr id="5" name="Footer Placeholder 4"/>
          <p:cNvSpPr>
            <a:spLocks noGrp="1"/>
          </p:cNvSpPr>
          <p:nvPr>
            <p:ph type="ftr" sz="quarter" idx="11"/>
          </p:nvPr>
        </p:nvSpPr>
        <p:spPr>
          <a:xfrm>
            <a:off x="800100" y="6172200"/>
            <a:ext cx="4000500" cy="457200"/>
          </a:xfrm>
        </p:spPr>
        <p:txBody>
          <a:bodyPr/>
          <a:lstStyle/>
          <a:p>
            <a:endParaRPr lang="en-US">
              <a:solidFill>
                <a:srgbClr val="696464"/>
              </a:solidFill>
            </a:endParaRP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6" name="Slide Number Placeholder 5"/>
          <p:cNvSpPr>
            <a:spLocks noGrp="1"/>
          </p:cNvSpPr>
          <p:nvPr>
            <p:ph type="sldNum" sz="quarter" idx="12"/>
          </p:nvPr>
        </p:nvSpPr>
        <p:spPr>
          <a:xfrm>
            <a:off x="146304" y="6208776"/>
            <a:ext cx="457200" cy="457200"/>
          </a:xfrm>
        </p:spPr>
        <p:txBody>
          <a:bodyPr/>
          <a:lstStyle/>
          <a:p>
            <a:fld id="{2B8E5560-3675-411B-BF93-143A178CEB51}" type="slidenum">
              <a:rPr lang="en-US" smtClean="0"/>
              <a:pPr/>
              <a:t>‹#›</a:t>
            </a:fld>
            <a:endParaRPr lang="en-US"/>
          </a:p>
        </p:txBody>
      </p:sp>
    </p:spTree>
    <p:extLst>
      <p:ext uri="{BB962C8B-B14F-4D97-AF65-F5344CB8AC3E}">
        <p14:creationId xmlns:p14="http://schemas.microsoft.com/office/powerpoint/2010/main" val="4077726284"/>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6078D7EE-3920-4FDB-85A8-EB0EA41DC486}" type="datetimeFigureOut">
              <a:rPr lang="en-US" smtClean="0">
                <a:solidFill>
                  <a:srgbClr val="696464"/>
                </a:solidFill>
              </a:rPr>
              <a:pPr/>
              <a:t>3/30/2020</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2B8E5560-3675-411B-BF93-143A178CEB51}"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563510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6078D7EE-3920-4FDB-85A8-EB0EA41DC486}" type="datetimeFigureOut">
              <a:rPr lang="en-US" smtClean="0">
                <a:solidFill>
                  <a:srgbClr val="696464"/>
                </a:solidFill>
              </a:rPr>
              <a:pPr/>
              <a:t>3/30/2020</a:t>
            </a:fld>
            <a:endParaRPr lang="en-US">
              <a:solidFill>
                <a:srgbClr val="696464"/>
              </a:solidFill>
            </a:endParaRPr>
          </a:p>
        </p:txBody>
      </p:sp>
      <p:sp>
        <p:nvSpPr>
          <p:cNvPr id="8" name="Footer Placeholder 7"/>
          <p:cNvSpPr>
            <a:spLocks noGrp="1"/>
          </p:cNvSpPr>
          <p:nvPr>
            <p:ph type="ftr" sz="quarter" idx="11"/>
          </p:nvPr>
        </p:nvSpPr>
        <p:spPr/>
        <p:txBody>
          <a:bodyPr/>
          <a:lstStyle/>
          <a:p>
            <a:endParaRPr lang="en-US">
              <a:solidFill>
                <a:srgbClr val="696464"/>
              </a:solidFill>
            </a:endParaRPr>
          </a:p>
        </p:txBody>
      </p:sp>
      <p:sp>
        <p:nvSpPr>
          <p:cNvPr id="9" name="Slide Number Placeholder 8"/>
          <p:cNvSpPr>
            <a:spLocks noGrp="1"/>
          </p:cNvSpPr>
          <p:nvPr>
            <p:ph type="sldNum" sz="quarter" idx="12"/>
          </p:nvPr>
        </p:nvSpPr>
        <p:spPr/>
        <p:txBody>
          <a:bodyPr/>
          <a:lstStyle/>
          <a:p>
            <a:fld id="{2B8E5560-3675-411B-BF93-143A178CEB51}"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3645869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078D7EE-3920-4FDB-85A8-EB0EA41DC486}" type="datetimeFigureOut">
              <a:rPr lang="en-US" smtClean="0">
                <a:solidFill>
                  <a:srgbClr val="696464"/>
                </a:solidFill>
              </a:rPr>
              <a:pPr/>
              <a:t>3/30/2020</a:t>
            </a:fld>
            <a:endParaRPr lang="en-US">
              <a:solidFill>
                <a:srgbClr val="696464"/>
              </a:solidFill>
            </a:endParaRPr>
          </a:p>
        </p:txBody>
      </p:sp>
      <p:sp>
        <p:nvSpPr>
          <p:cNvPr id="4" name="Footer Placeholder 3"/>
          <p:cNvSpPr>
            <a:spLocks noGrp="1"/>
          </p:cNvSpPr>
          <p:nvPr>
            <p:ph type="ftr" sz="quarter" idx="11"/>
          </p:nvPr>
        </p:nvSpPr>
        <p:spPr/>
        <p:txBody>
          <a:bodyPr/>
          <a:lstStyle/>
          <a:p>
            <a:endParaRPr lang="en-US">
              <a:solidFill>
                <a:srgbClr val="696464"/>
              </a:solidFill>
            </a:endParaRPr>
          </a:p>
        </p:txBody>
      </p:sp>
      <p:sp>
        <p:nvSpPr>
          <p:cNvPr id="5" name="Slide Number Placeholder 4"/>
          <p:cNvSpPr>
            <a:spLocks noGrp="1"/>
          </p:cNvSpPr>
          <p:nvPr>
            <p:ph type="sldNum" sz="quarter" idx="12"/>
          </p:nvPr>
        </p:nvSpPr>
        <p:spPr/>
        <p:txBody>
          <a:bodyPr/>
          <a:lstStyle/>
          <a:p>
            <a:fld id="{2B8E5560-3675-411B-BF93-143A178CEB51}" type="slidenum">
              <a:rPr lang="en-US" smtClean="0"/>
              <a:pPr/>
              <a:t>‹#›</a:t>
            </a:fld>
            <a:endParaRPr lang="en-US"/>
          </a:p>
        </p:txBody>
      </p:sp>
    </p:spTree>
    <p:extLst>
      <p:ext uri="{BB962C8B-B14F-4D97-AF65-F5344CB8AC3E}">
        <p14:creationId xmlns:p14="http://schemas.microsoft.com/office/powerpoint/2010/main" val="6488009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78D7EE-3920-4FDB-85A8-EB0EA41DC486}" type="datetimeFigureOut">
              <a:rPr lang="en-US" smtClean="0">
                <a:solidFill>
                  <a:srgbClr val="696464"/>
                </a:solidFill>
              </a:rPr>
              <a:pPr/>
              <a:t>3/30/2020</a:t>
            </a:fld>
            <a:endParaRPr lang="en-US">
              <a:solidFill>
                <a:srgbClr val="696464"/>
              </a:solidFill>
            </a:endParaRPr>
          </a:p>
        </p:txBody>
      </p:sp>
      <p:sp>
        <p:nvSpPr>
          <p:cNvPr id="3" name="Footer Placeholder 2"/>
          <p:cNvSpPr>
            <a:spLocks noGrp="1"/>
          </p:cNvSpPr>
          <p:nvPr>
            <p:ph type="ftr" sz="quarter" idx="11"/>
          </p:nvPr>
        </p:nvSpPr>
        <p:spPr/>
        <p:txBody>
          <a:bodyPr/>
          <a:lstStyle/>
          <a:p>
            <a:endParaRPr lang="en-US">
              <a:solidFill>
                <a:srgbClr val="696464"/>
              </a:solidFill>
            </a:endParaRPr>
          </a:p>
        </p:txBody>
      </p:sp>
      <p:sp>
        <p:nvSpPr>
          <p:cNvPr id="4" name="Slide Number Placeholder 3"/>
          <p:cNvSpPr>
            <a:spLocks noGrp="1"/>
          </p:cNvSpPr>
          <p:nvPr>
            <p:ph type="sldNum" sz="quarter" idx="12"/>
          </p:nvPr>
        </p:nvSpPr>
        <p:spPr/>
        <p:txBody>
          <a:bodyPr/>
          <a:lstStyle/>
          <a:p>
            <a:fld id="{2B8E5560-3675-411B-BF93-143A178CEB51}" type="slidenum">
              <a:rPr lang="en-US" smtClean="0"/>
              <a:pPr/>
              <a:t>‹#›</a:t>
            </a:fld>
            <a:endParaRPr lang="en-US"/>
          </a:p>
        </p:txBody>
      </p:sp>
    </p:spTree>
    <p:extLst>
      <p:ext uri="{BB962C8B-B14F-4D97-AF65-F5344CB8AC3E}">
        <p14:creationId xmlns:p14="http://schemas.microsoft.com/office/powerpoint/2010/main" val="42633150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078D7EE-3920-4FDB-85A8-EB0EA41DC486}" type="datetimeFigureOut">
              <a:rPr lang="en-US" smtClean="0">
                <a:solidFill>
                  <a:srgbClr val="696464"/>
                </a:solidFill>
              </a:rPr>
              <a:pPr/>
              <a:t>3/30/2020</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2B8E5560-3675-411B-BF93-143A178CEB51}"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707727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078D7EE-3920-4FDB-85A8-EB0EA41DC486}" type="datetimeFigureOut">
              <a:rPr lang="en-US" smtClean="0">
                <a:solidFill>
                  <a:srgbClr val="696464"/>
                </a:solidFill>
              </a:rPr>
              <a:pPr/>
              <a:t>3/30/2020</a:t>
            </a:fld>
            <a:endParaRPr lang="en-US">
              <a:solidFill>
                <a:srgbClr val="696464"/>
              </a:solidFill>
            </a:endParaRPr>
          </a:p>
        </p:txBody>
      </p:sp>
      <p:sp>
        <p:nvSpPr>
          <p:cNvPr id="6" name="Footer Placeholder 5"/>
          <p:cNvSpPr>
            <a:spLocks noGrp="1"/>
          </p:cNvSpPr>
          <p:nvPr>
            <p:ph type="ftr" sz="quarter" idx="11"/>
          </p:nvPr>
        </p:nvSpPr>
        <p:spPr>
          <a:xfrm>
            <a:off x="914400" y="6172200"/>
            <a:ext cx="3886200" cy="457200"/>
          </a:xfrm>
        </p:spPr>
        <p:txBody>
          <a:bodyPr/>
          <a:lstStyle/>
          <a:p>
            <a:endParaRPr lang="en-US">
              <a:solidFill>
                <a:srgbClr val="696464"/>
              </a:solidFill>
            </a:endParaRPr>
          </a:p>
        </p:txBody>
      </p:sp>
      <p:sp>
        <p:nvSpPr>
          <p:cNvPr id="7" name="Slide Number Placeholder 6"/>
          <p:cNvSpPr>
            <a:spLocks noGrp="1"/>
          </p:cNvSpPr>
          <p:nvPr>
            <p:ph type="sldNum" sz="quarter" idx="12"/>
          </p:nvPr>
        </p:nvSpPr>
        <p:spPr>
          <a:xfrm>
            <a:off x="146304" y="6208776"/>
            <a:ext cx="457200" cy="457200"/>
          </a:xfrm>
        </p:spPr>
        <p:txBody>
          <a:bodyPr/>
          <a:lstStyle/>
          <a:p>
            <a:fld id="{2B8E5560-3675-411B-BF93-143A178CEB51}"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extLst>
      <p:ext uri="{BB962C8B-B14F-4D97-AF65-F5344CB8AC3E}">
        <p14:creationId xmlns:p14="http://schemas.microsoft.com/office/powerpoint/2010/main" val="36526810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078D7EE-3920-4FDB-85A8-EB0EA41DC486}" type="datetimeFigureOut">
              <a:rPr lang="en-US" smtClean="0">
                <a:solidFill>
                  <a:srgbClr val="696464"/>
                </a:solidFill>
              </a:rPr>
              <a:pPr/>
              <a:t>3/30/2020</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2B8E5560-3675-411B-BF93-143A178CEB51}" type="slidenum">
              <a:rPr lang="en-US" smtClean="0"/>
              <a:pPr/>
              <a:t>‹#›</a:t>
            </a:fld>
            <a:endParaRPr lang="en-US"/>
          </a:p>
        </p:txBody>
      </p:sp>
    </p:spTree>
    <p:extLst>
      <p:ext uri="{BB962C8B-B14F-4D97-AF65-F5344CB8AC3E}">
        <p14:creationId xmlns:p14="http://schemas.microsoft.com/office/powerpoint/2010/main" val="40887359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078D7EE-3920-4FDB-85A8-EB0EA41DC486}" type="datetimeFigureOut">
              <a:rPr lang="en-US" smtClean="0">
                <a:solidFill>
                  <a:srgbClr val="696464"/>
                </a:solidFill>
              </a:rPr>
              <a:pPr/>
              <a:t>3/30/2020</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2B8E5560-3675-411B-BF93-143A178CEB51}" type="slidenum">
              <a:rPr lang="en-US" smtClean="0"/>
              <a:pPr/>
              <a:t>‹#›</a:t>
            </a:fld>
            <a:endParaRPr lang="en-US"/>
          </a:p>
        </p:txBody>
      </p:sp>
    </p:spTree>
    <p:extLst>
      <p:ext uri="{BB962C8B-B14F-4D97-AF65-F5344CB8AC3E}">
        <p14:creationId xmlns:p14="http://schemas.microsoft.com/office/powerpoint/2010/main" val="2397435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75BE189-6EA5-46AD-A985-F1D80AFA07ED}" type="datetimeFigureOut">
              <a:rPr lang="en-US" smtClean="0"/>
              <a:pPr/>
              <a:t>3/30/2020</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96BF541B-15D7-416E-B417-3300FE9DFBB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23564149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75BE189-6EA5-46AD-A985-F1D80AFA07ED}" type="datetimeFigureOut">
              <a:rPr lang="en-US" smtClean="0"/>
              <a:pPr/>
              <a:t>3/30/2020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F541B-15D7-416E-B417-3300FE9DFBB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2717172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75BE189-6EA5-46AD-A985-F1D80AFA07ED}" type="datetimeFigureOut">
              <a:rPr lang="en-US" smtClean="0"/>
              <a:pPr/>
              <a:t>3/30/2020</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96BF541B-15D7-416E-B417-3300FE9DFBBB}" type="slidenum">
              <a:rPr lang="en-US" smtClean="0"/>
              <a:pPr/>
              <a:t>‹#›</a:t>
            </a:fld>
            <a:endParaRPr lang="en-US"/>
          </a:p>
        </p:txBody>
      </p:sp>
    </p:spTree>
    <p:extLst>
      <p:ext uri="{BB962C8B-B14F-4D97-AF65-F5344CB8AC3E}">
        <p14:creationId xmlns:p14="http://schemas.microsoft.com/office/powerpoint/2010/main" val="335078276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75BE189-6EA5-46AD-A985-F1D80AFA07ED}" type="datetimeFigureOut">
              <a:rPr lang="en-US" smtClean="0"/>
              <a:pPr/>
              <a:t>3/30/2020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BF541B-15D7-416E-B417-3300FE9DFBB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2820355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75BE189-6EA5-46AD-A985-F1D80AFA07ED}" type="datetimeFigureOut">
              <a:rPr lang="en-US" smtClean="0"/>
              <a:pPr/>
              <a:t>3/30/2020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BF541B-15D7-416E-B417-3300FE9DFBB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6148924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75BE189-6EA5-46AD-A985-F1D80AFA07ED}" type="datetimeFigureOut">
              <a:rPr lang="en-US" smtClean="0"/>
              <a:pPr/>
              <a:t>3/30/2020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BF541B-15D7-416E-B417-3300FE9DFBBB}" type="slidenum">
              <a:rPr lang="en-US" smtClean="0"/>
              <a:pPr/>
              <a:t>‹#›</a:t>
            </a:fld>
            <a:endParaRPr lang="en-US"/>
          </a:p>
        </p:txBody>
      </p:sp>
    </p:spTree>
    <p:extLst>
      <p:ext uri="{BB962C8B-B14F-4D97-AF65-F5344CB8AC3E}">
        <p14:creationId xmlns:p14="http://schemas.microsoft.com/office/powerpoint/2010/main" val="19974104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5BE189-6EA5-46AD-A985-F1D80AFA07ED}" type="datetimeFigureOut">
              <a:rPr lang="en-US" smtClean="0"/>
              <a:pPr/>
              <a:t>3/30/2020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BF541B-15D7-416E-B417-3300FE9DFBBB}" type="slidenum">
              <a:rPr lang="en-US" smtClean="0"/>
              <a:pPr/>
              <a:t>‹#›</a:t>
            </a:fld>
            <a:endParaRPr lang="en-US"/>
          </a:p>
        </p:txBody>
      </p:sp>
    </p:spTree>
    <p:extLst>
      <p:ext uri="{BB962C8B-B14F-4D97-AF65-F5344CB8AC3E}">
        <p14:creationId xmlns:p14="http://schemas.microsoft.com/office/powerpoint/2010/main" val="933476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75BE189-6EA5-46AD-A985-F1D80AFA07ED}" type="datetimeFigureOut">
              <a:rPr lang="en-US" smtClean="0"/>
              <a:pPr/>
              <a:t>3/30/2020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BF541B-15D7-416E-B417-3300FE9DFBB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9600770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75BE189-6EA5-46AD-A985-F1D80AFA07ED}" type="datetimeFigureOut">
              <a:rPr lang="en-US" smtClean="0"/>
              <a:pPr/>
              <a:t>3/30/2020</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96BF541B-15D7-416E-B417-3300FE9DFBB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extLst>
      <p:ext uri="{BB962C8B-B14F-4D97-AF65-F5344CB8AC3E}">
        <p14:creationId xmlns:p14="http://schemas.microsoft.com/office/powerpoint/2010/main" val="23826687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75BE189-6EA5-46AD-A985-F1D80AFA07ED}" type="datetimeFigureOut">
              <a:rPr lang="en-US" smtClean="0"/>
              <a:pPr/>
              <a:t>3/30/2020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F541B-15D7-416E-B417-3300FE9DFBBB}" type="slidenum">
              <a:rPr lang="en-US" smtClean="0"/>
              <a:pPr/>
              <a:t>‹#›</a:t>
            </a:fld>
            <a:endParaRPr lang="en-US"/>
          </a:p>
        </p:txBody>
      </p:sp>
    </p:spTree>
    <p:extLst>
      <p:ext uri="{BB962C8B-B14F-4D97-AF65-F5344CB8AC3E}">
        <p14:creationId xmlns:p14="http://schemas.microsoft.com/office/powerpoint/2010/main" val="23351284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75BE189-6EA5-46AD-A985-F1D80AFA07ED}" type="datetimeFigureOut">
              <a:rPr lang="en-US" smtClean="0"/>
              <a:pPr/>
              <a:t>3/30/2020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BF541B-15D7-416E-B417-3300FE9DFBBB}" type="slidenum">
              <a:rPr lang="en-US" smtClean="0"/>
              <a:pPr/>
              <a:t>‹#›</a:t>
            </a:fld>
            <a:endParaRPr lang="en-US"/>
          </a:p>
        </p:txBody>
      </p:sp>
    </p:spTree>
    <p:extLst>
      <p:ext uri="{BB962C8B-B14F-4D97-AF65-F5344CB8AC3E}">
        <p14:creationId xmlns:p14="http://schemas.microsoft.com/office/powerpoint/2010/main" val="3992046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lstStyle/>
          <a:p>
            <a:r>
              <a:rPr lang="en-US"/>
              <a:t>Click to edit Master title style</a:t>
            </a:r>
          </a:p>
        </p:txBody>
      </p:sp>
      <p:sp>
        <p:nvSpPr>
          <p:cNvPr id="3" name="Table Placeholder 2"/>
          <p:cNvSpPr>
            <a:spLocks noGrp="1"/>
          </p:cNvSpPr>
          <p:nvPr>
            <p:ph type="tbl" idx="1"/>
          </p:nvPr>
        </p:nvSpPr>
        <p:spPr>
          <a:xfrm>
            <a:off x="457200" y="1676400"/>
            <a:ext cx="8229600" cy="4191000"/>
          </a:xfrm>
        </p:spPr>
        <p:txBody>
          <a:bodyPr/>
          <a:lstStyle/>
          <a:p>
            <a:endParaRPr lang="en-US"/>
          </a:p>
        </p:txBody>
      </p:sp>
      <p:sp>
        <p:nvSpPr>
          <p:cNvPr id="4" name="Footer Placeholder 3"/>
          <p:cNvSpPr>
            <a:spLocks noGrp="1"/>
          </p:cNvSpPr>
          <p:nvPr>
            <p:ph type="ftr" sz="quarter" idx="10"/>
          </p:nvPr>
        </p:nvSpPr>
        <p:spPr>
          <a:xfrm>
            <a:off x="3124200" y="6248400"/>
            <a:ext cx="2895600" cy="457200"/>
          </a:xfrm>
        </p:spPr>
        <p:txBody>
          <a:bodyPr/>
          <a:lstStyle>
            <a:lvl1pPr>
              <a:defRPr/>
            </a:lvl1pPr>
          </a:lstStyle>
          <a:p>
            <a:endParaRPr lang="en-US"/>
          </a:p>
        </p:txBody>
      </p:sp>
      <p:sp>
        <p:nvSpPr>
          <p:cNvPr id="5" name="Slide Number Placeholder 4"/>
          <p:cNvSpPr>
            <a:spLocks noGrp="1"/>
          </p:cNvSpPr>
          <p:nvPr>
            <p:ph type="sldNum" sz="quarter" idx="11"/>
          </p:nvPr>
        </p:nvSpPr>
        <p:spPr>
          <a:xfrm>
            <a:off x="6553200" y="6248400"/>
            <a:ext cx="2133600" cy="457200"/>
          </a:xfrm>
        </p:spPr>
        <p:txBody>
          <a:bodyPr/>
          <a:lstStyle>
            <a:lvl1pPr>
              <a:defRPr/>
            </a:lvl1pPr>
          </a:lstStyle>
          <a:p>
            <a:fld id="{D0EDFED1-5ACD-4B1F-9D0D-52D21090834B}" type="slidenum">
              <a:rPr lang="en-US"/>
              <a:pPr/>
              <a:t>‹#›</a:t>
            </a:fld>
            <a:endParaRPr lang="en-US"/>
          </a:p>
        </p:txBody>
      </p:sp>
      <p:sp>
        <p:nvSpPr>
          <p:cNvPr id="6" name="Date Placeholder 5"/>
          <p:cNvSpPr>
            <a:spLocks noGrp="1"/>
          </p:cNvSpPr>
          <p:nvPr>
            <p:ph type="dt" sz="half" idx="12"/>
          </p:nvPr>
        </p:nvSpPr>
        <p:spPr>
          <a:xfrm>
            <a:off x="457200" y="6245225"/>
            <a:ext cx="2133600" cy="476250"/>
          </a:xfrm>
        </p:spPr>
        <p:txBody>
          <a:bodyPr/>
          <a:lstStyle>
            <a:lvl1pPr>
              <a:defRPr/>
            </a:lvl1pPr>
          </a:lstStyle>
          <a:p>
            <a:endParaRPr lang="en-US"/>
          </a:p>
        </p:txBody>
      </p:sp>
    </p:spTree>
    <p:extLst>
      <p:ext uri="{BB962C8B-B14F-4D97-AF65-F5344CB8AC3E}">
        <p14:creationId xmlns:p14="http://schemas.microsoft.com/office/powerpoint/2010/main" val="3254130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575" y="161927"/>
            <a:ext cx="8797925" cy="67627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55575" y="939800"/>
            <a:ext cx="8797925" cy="5237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5575"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0EFFA2-600D-494C-ABE9-5EAC64BA1475}" type="datetimeFigureOut">
              <a:rPr lang="en-US" smtClean="0"/>
              <a:pPr/>
              <a:t>3/30/2020</a:t>
            </a:fld>
            <a:endParaRPr lang="en-US"/>
          </a:p>
        </p:txBody>
      </p:sp>
      <p:sp>
        <p:nvSpPr>
          <p:cNvPr id="5" name="Footer Placeholder 4"/>
          <p:cNvSpPr>
            <a:spLocks noGrp="1"/>
          </p:cNvSpPr>
          <p:nvPr>
            <p:ph type="ftr" sz="quarter" idx="3"/>
          </p:nvPr>
        </p:nvSpPr>
        <p:spPr>
          <a:xfrm>
            <a:off x="2400300" y="6356351"/>
            <a:ext cx="4279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89610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B7FB1F-0B1F-427A-8C2D-34012998026E}" type="slidenum">
              <a:rPr lang="en-US" smtClean="0"/>
              <a:pPr/>
              <a:t>‹#›</a:t>
            </a:fld>
            <a:endParaRPr lang="en-US"/>
          </a:p>
        </p:txBody>
      </p:sp>
    </p:spTree>
    <p:extLst>
      <p:ext uri="{BB962C8B-B14F-4D97-AF65-F5344CB8AC3E}">
        <p14:creationId xmlns:p14="http://schemas.microsoft.com/office/powerpoint/2010/main" val="3823198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6078D7EE-3920-4FDB-85A8-EB0EA41DC486}" type="datetimeFigureOut">
              <a:rPr lang="en-US" smtClean="0">
                <a:solidFill>
                  <a:srgbClr val="696464"/>
                </a:solidFill>
              </a:rPr>
              <a:pPr/>
              <a:t>3/30/2020</a:t>
            </a:fld>
            <a:endParaRPr lang="en-US">
              <a:solidFill>
                <a:srgbClr val="696464"/>
              </a:solidFill>
            </a:endParaRPr>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solidFill>
                <a:srgbClr val="696464"/>
              </a:solidFill>
            </a:endParaRP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2B8E5560-3675-411B-BF93-143A178CEB51}" type="slidenum">
              <a:rPr lang="en-US" smtClean="0"/>
              <a:pPr/>
              <a:t>‹#›</a:t>
            </a:fld>
            <a:endParaRPr lang="en-US"/>
          </a:p>
        </p:txBody>
      </p:sp>
    </p:spTree>
    <p:extLst>
      <p:ext uri="{BB962C8B-B14F-4D97-AF65-F5344CB8AC3E}">
        <p14:creationId xmlns:p14="http://schemas.microsoft.com/office/powerpoint/2010/main" val="224909014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75BE189-6EA5-46AD-A985-F1D80AFA07ED}" type="datetimeFigureOut">
              <a:rPr lang="en-US" smtClean="0"/>
              <a:pPr/>
              <a:t>3/30/2020</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96BF541B-15D7-416E-B417-3300FE9DFBBB}" type="slidenum">
              <a:rPr lang="en-US" smtClean="0"/>
              <a:pPr/>
              <a:t>‹#›</a:t>
            </a:fld>
            <a:endParaRPr lang="en-US"/>
          </a:p>
        </p:txBody>
      </p:sp>
    </p:spTree>
    <p:extLst>
      <p:ext uri="{BB962C8B-B14F-4D97-AF65-F5344CB8AC3E}">
        <p14:creationId xmlns:p14="http://schemas.microsoft.com/office/powerpoint/2010/main" val="1505972868"/>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CSE 115</a:t>
            </a:r>
            <a:br>
              <a:rPr lang="en-US" dirty="0"/>
            </a:br>
            <a:r>
              <a:rPr lang="en-US" dirty="0"/>
              <a:t>Programming Language I</a:t>
            </a:r>
          </a:p>
        </p:txBody>
      </p:sp>
      <p:sp>
        <p:nvSpPr>
          <p:cNvPr id="5" name="Subtitle 2"/>
          <p:cNvSpPr>
            <a:spLocks noGrp="1"/>
          </p:cNvSpPr>
          <p:nvPr>
            <p:ph type="subTitle" idx="1"/>
          </p:nvPr>
        </p:nvSpPr>
        <p:spPr>
          <a:prstGeom prst="rect">
            <a:avLst/>
          </a:prstGeom>
        </p:spPr>
        <p:txBody>
          <a:bodyPr>
            <a:normAutofit/>
          </a:bodyPr>
          <a:lstStyle>
            <a:lvl1pPr marL="0" indent="0" algn="ctr" rtl="0" eaLnBrk="1" latinLnBrk="0" hangingPunct="1">
              <a:spcBef>
                <a:spcPts val="580"/>
              </a:spcBef>
              <a:buClr>
                <a:schemeClr val="accent1"/>
              </a:buClr>
              <a:buSzPct val="85000"/>
              <a:buFont typeface="Wingdings 2"/>
              <a:buNone/>
              <a:defRPr kumimoji="0" sz="2600" kern="1200">
                <a:solidFill>
                  <a:schemeClr val="tx2"/>
                </a:solidFill>
                <a:latin typeface="+mn-lt"/>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pPr algn="ctr"/>
            <a:r>
              <a:rPr lang="en-US" b="1" dirty="0"/>
              <a:t>Instructor : </a:t>
            </a:r>
            <a:r>
              <a:rPr lang="en-US" b="1" dirty="0" err="1"/>
              <a:t>Rummana</a:t>
            </a:r>
            <a:r>
              <a:rPr lang="en-US" b="1" dirty="0"/>
              <a:t> </a:t>
            </a:r>
            <a:r>
              <a:rPr lang="en-US" b="1" dirty="0" err="1"/>
              <a:t>Rahman</a:t>
            </a:r>
            <a:endParaRPr lang="en-US" b="1" dirty="0"/>
          </a:p>
          <a:p>
            <a:pPr algn="ctr"/>
            <a:r>
              <a:rPr lang="en-US" sz="2000" b="1" dirty="0"/>
              <a:t>Sr. Lecturer</a:t>
            </a:r>
          </a:p>
          <a:p>
            <a:pPr algn="ctr"/>
            <a:r>
              <a:rPr lang="en-US" sz="2000" b="1" dirty="0"/>
              <a:t>North South University</a:t>
            </a:r>
          </a:p>
        </p:txBody>
      </p:sp>
    </p:spTree>
    <p:extLst>
      <p:ext uri="{BB962C8B-B14F-4D97-AF65-F5344CB8AC3E}">
        <p14:creationId xmlns:p14="http://schemas.microsoft.com/office/powerpoint/2010/main" val="4062321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2438400"/>
            <a:ext cx="8229600" cy="1143000"/>
          </a:xfrm>
        </p:spPr>
        <p:txBody>
          <a:bodyPr>
            <a:normAutofit fontScale="90000"/>
          </a:bodyPr>
          <a:lstStyle/>
          <a:p>
            <a:pPr algn="ctr"/>
            <a:r>
              <a:rPr lang="en-US" dirty="0"/>
              <a:t>Lecture 11- Strings</a:t>
            </a:r>
            <a:br>
              <a:rPr lang="en-US" dirty="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Autofit/>
          </a:bodyPr>
          <a:lstStyle/>
          <a:p>
            <a:pPr eaLnBrk="1" hangingPunct="1"/>
            <a:r>
              <a:rPr lang="en-US" sz="4000" dirty="0"/>
              <a:t>Fundamentals of Characters and Strings</a:t>
            </a:r>
          </a:p>
        </p:txBody>
      </p:sp>
      <p:sp>
        <p:nvSpPr>
          <p:cNvPr id="11267" name="Rectangle 3"/>
          <p:cNvSpPr>
            <a:spLocks noGrp="1" noChangeArrowheads="1"/>
          </p:cNvSpPr>
          <p:nvPr>
            <p:ph idx="1"/>
          </p:nvPr>
        </p:nvSpPr>
        <p:spPr/>
        <p:txBody>
          <a:bodyPr/>
          <a:lstStyle/>
          <a:p>
            <a:pPr eaLnBrk="1" hangingPunct="1"/>
            <a:r>
              <a:rPr lang="en-US" sz="2400" dirty="0"/>
              <a:t>Characters in C consist of any printable or nonprintable character in the computer’s character set including lowercase letters, uppercase letters, decimal digits, special characters and escape sequences.</a:t>
            </a:r>
          </a:p>
          <a:p>
            <a:pPr eaLnBrk="1" hangingPunct="1"/>
            <a:r>
              <a:rPr lang="en-US" sz="2400" dirty="0"/>
              <a:t>A character is usually stored in the computer as an 8-bits (1 byte) integer.</a:t>
            </a:r>
          </a:p>
          <a:p>
            <a:pPr eaLnBrk="1" hangingPunct="1"/>
            <a:r>
              <a:rPr lang="en-US" sz="2400" dirty="0"/>
              <a:t>The integer value stored for a character depends on the character set used by the computer on which the program is running. </a:t>
            </a:r>
          </a:p>
          <a:p>
            <a:pPr eaLnBrk="1" hangingPunct="1"/>
            <a:endParaRPr lang="en-US" sz="2400" dirty="0"/>
          </a:p>
          <a:p>
            <a:r>
              <a:rPr lang="en-US" sz="2400" dirty="0"/>
              <a:t>There are two commonly used character sets:</a:t>
            </a:r>
          </a:p>
          <a:p>
            <a:pPr lvl="1"/>
            <a:r>
              <a:rPr lang="en-US" sz="2200" dirty="0"/>
              <a:t>ASCII (American Standard Code for Information Interchange)</a:t>
            </a:r>
          </a:p>
          <a:p>
            <a:pPr lvl="1"/>
            <a:r>
              <a:rPr lang="en-US" sz="2200" dirty="0"/>
              <a:t>EBCDIC (Extended Binary Coded Decimal Interchange Code)</a:t>
            </a:r>
            <a:endParaRPr lang="en-US" sz="2400" dirty="0"/>
          </a:p>
        </p:txBody>
      </p:sp>
    </p:spTree>
    <p:extLst>
      <p:ext uri="{BB962C8B-B14F-4D97-AF65-F5344CB8AC3E}">
        <p14:creationId xmlns:p14="http://schemas.microsoft.com/office/powerpoint/2010/main" val="495903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96869" y="220363"/>
            <a:ext cx="6004131" cy="6432999"/>
          </a:xfrm>
        </p:spPr>
      </p:pic>
      <p:sp>
        <p:nvSpPr>
          <p:cNvPr id="3" name="TextBox 2"/>
          <p:cNvSpPr txBox="1"/>
          <p:nvPr/>
        </p:nvSpPr>
        <p:spPr>
          <a:xfrm>
            <a:off x="304800" y="381000"/>
            <a:ext cx="1447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Perpetua"/>
                <a:ea typeface="+mn-ea"/>
                <a:cs typeface="+mn-cs"/>
              </a:rPr>
              <a:t>ASCII Code</a:t>
            </a:r>
          </a:p>
        </p:txBody>
      </p:sp>
    </p:spTree>
    <p:extLst>
      <p:ext uri="{BB962C8B-B14F-4D97-AF65-F5344CB8AC3E}">
        <p14:creationId xmlns:p14="http://schemas.microsoft.com/office/powerpoint/2010/main" val="1356860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5"/>
          <p:cNvSpPr>
            <a:spLocks noGrp="1"/>
          </p:cNvSpPr>
          <p:nvPr>
            <p:ph type="title"/>
          </p:nvPr>
        </p:nvSpPr>
        <p:spPr/>
        <p:txBody>
          <a:bodyPr>
            <a:noAutofit/>
          </a:bodyPr>
          <a:lstStyle/>
          <a:p>
            <a:pPr eaLnBrk="1" hangingPunct="1"/>
            <a:r>
              <a:rPr lang="en-US" sz="4000" dirty="0"/>
              <a:t>Difference Between an Integer Digit and a Character Digit</a:t>
            </a:r>
          </a:p>
        </p:txBody>
      </p:sp>
      <p:sp>
        <p:nvSpPr>
          <p:cNvPr id="13315" name="Rectangle 3"/>
          <p:cNvSpPr>
            <a:spLocks noGrp="1" noChangeArrowheads="1"/>
          </p:cNvSpPr>
          <p:nvPr>
            <p:ph idx="1"/>
          </p:nvPr>
        </p:nvSpPr>
        <p:spPr>
          <a:xfrm>
            <a:off x="155575" y="1583140"/>
            <a:ext cx="8797925" cy="4593823"/>
          </a:xfrm>
        </p:spPr>
        <p:txBody>
          <a:bodyPr/>
          <a:lstStyle/>
          <a:p>
            <a:pPr eaLnBrk="1" hangingPunct="1">
              <a:lnSpc>
                <a:spcPct val="90000"/>
              </a:lnSpc>
            </a:pPr>
            <a:r>
              <a:rPr lang="en-US" sz="2800" b="1" dirty="0"/>
              <a:t>char </a:t>
            </a:r>
            <a:r>
              <a:rPr lang="en-US" sz="2800" b="1" dirty="0" err="1"/>
              <a:t>num</a:t>
            </a:r>
            <a:r>
              <a:rPr lang="en-US" sz="2800" b="1" dirty="0"/>
              <a:t> = 1</a:t>
            </a:r>
            <a:r>
              <a:rPr lang="en-US" sz="2800" dirty="0"/>
              <a:t> and </a:t>
            </a:r>
            <a:r>
              <a:rPr lang="en-US" sz="2800" b="1" dirty="0"/>
              <a:t>char </a:t>
            </a:r>
            <a:r>
              <a:rPr lang="en-US" sz="2800" b="1" dirty="0" err="1"/>
              <a:t>num</a:t>
            </a:r>
            <a:r>
              <a:rPr lang="en-US" sz="2800" b="1" dirty="0"/>
              <a:t> = ‘1’</a:t>
            </a:r>
            <a:r>
              <a:rPr lang="en-US" sz="2800" dirty="0"/>
              <a:t> are not the same.</a:t>
            </a:r>
          </a:p>
          <a:p>
            <a:pPr eaLnBrk="1" hangingPunct="1">
              <a:lnSpc>
                <a:spcPct val="90000"/>
              </a:lnSpc>
            </a:pPr>
            <a:r>
              <a:rPr lang="en-US" sz="2800" b="1" dirty="0"/>
              <a:t>char </a:t>
            </a:r>
            <a:r>
              <a:rPr lang="en-US" sz="2800" b="1" dirty="0" err="1"/>
              <a:t>num</a:t>
            </a:r>
            <a:r>
              <a:rPr lang="en-US" sz="2800" b="1" dirty="0"/>
              <a:t> = 1</a:t>
            </a:r>
            <a:r>
              <a:rPr lang="en-US" sz="2800" dirty="0"/>
              <a:t> is represented in the computer as 00000001.</a:t>
            </a:r>
          </a:p>
          <a:p>
            <a:pPr eaLnBrk="1" hangingPunct="1">
              <a:lnSpc>
                <a:spcPct val="90000"/>
              </a:lnSpc>
            </a:pPr>
            <a:r>
              <a:rPr lang="en-US" sz="2800" b="1" dirty="0"/>
              <a:t>char </a:t>
            </a:r>
            <a:r>
              <a:rPr lang="en-US" sz="2800" b="1" dirty="0" err="1"/>
              <a:t>num</a:t>
            </a:r>
            <a:r>
              <a:rPr lang="en-US" sz="2800" b="1" dirty="0"/>
              <a:t> = ‘1’</a:t>
            </a:r>
            <a:r>
              <a:rPr lang="en-US" sz="2800" dirty="0"/>
              <a:t> on the other hand is number 49 according to the ASCII character set. Therefore, it is represented in the computer as 00110001.</a:t>
            </a:r>
          </a:p>
        </p:txBody>
      </p:sp>
    </p:spTree>
    <p:extLst>
      <p:ext uri="{BB962C8B-B14F-4D97-AF65-F5344CB8AC3E}">
        <p14:creationId xmlns:p14="http://schemas.microsoft.com/office/powerpoint/2010/main" val="332159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pPr eaLnBrk="1" hangingPunct="1"/>
            <a:r>
              <a:rPr lang="en-US" dirty="0"/>
              <a:t>Example: ASCII Character</a:t>
            </a:r>
          </a:p>
        </p:txBody>
      </p:sp>
      <p:sp>
        <p:nvSpPr>
          <p:cNvPr id="14339" name="Rectangle 3"/>
          <p:cNvSpPr>
            <a:spLocks noGrp="1" noChangeArrowheads="1"/>
          </p:cNvSpPr>
          <p:nvPr>
            <p:ph idx="1"/>
          </p:nvPr>
        </p:nvSpPr>
        <p:spPr>
          <a:xfrm>
            <a:off x="1" y="939800"/>
            <a:ext cx="8953500" cy="5237163"/>
          </a:xfrm>
        </p:spPr>
        <p:txBody>
          <a:bodyPr>
            <a:normAutofit fontScale="92500" lnSpcReduction="10000"/>
          </a:bodyPr>
          <a:lstStyle/>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#include &lt;</a:t>
            </a:r>
            <a:r>
              <a:rPr lang="en-US" dirty="0" err="1">
                <a:latin typeface="Courier New" panose="02070309020205020404" pitchFamily="49" charset="0"/>
                <a:cs typeface="Courier New" panose="02070309020205020404" pitchFamily="49" charset="0"/>
              </a:rPr>
              <a:t>stdio.h</a:t>
            </a:r>
            <a:r>
              <a:rPr lang="en-US" dirty="0">
                <a:latin typeface="Courier New" panose="02070309020205020404" pitchFamily="49" charset="0"/>
                <a:cs typeface="Courier New" panose="02070309020205020404" pitchFamily="49" charset="0"/>
              </a:rPr>
              <a:t>&gt;</a:t>
            </a:r>
          </a:p>
          <a:p>
            <a:pPr eaLnBrk="1" hangingPunct="1">
              <a:lnSpc>
                <a:spcPct val="70000"/>
              </a:lnSpc>
              <a:spcBef>
                <a:spcPts val="0"/>
              </a:spcBef>
              <a:buFont typeface="Wingdings" panose="05000000000000000000" pitchFamily="2" charset="2"/>
              <a:buNone/>
            </a:pPr>
            <a:endParaRPr lang="en-US" dirty="0">
              <a:latin typeface="Courier New" panose="02070309020205020404" pitchFamily="49" charset="0"/>
              <a:cs typeface="Courier New" panose="02070309020205020404" pitchFamily="49" charset="0"/>
            </a:endParaRP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void main(void)</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char </a:t>
            </a:r>
            <a:r>
              <a:rPr lang="en-US" dirty="0" err="1">
                <a:latin typeface="Courier New" panose="02070309020205020404" pitchFamily="49" charset="0"/>
                <a:cs typeface="Courier New" panose="02070309020205020404" pitchFamily="49" charset="0"/>
              </a:rPr>
              <a:t>my_A</a:t>
            </a:r>
            <a:r>
              <a:rPr lang="en-US" dirty="0">
                <a:latin typeface="Courier New" panose="02070309020205020404" pitchFamily="49" charset="0"/>
                <a:cs typeface="Courier New" panose="02070309020205020404" pitchFamily="49" charset="0"/>
              </a:rPr>
              <a:t> = 'A';</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char </a:t>
            </a:r>
            <a:r>
              <a:rPr lang="en-US" dirty="0" err="1">
                <a:latin typeface="Courier New" panose="02070309020205020404" pitchFamily="49" charset="0"/>
                <a:cs typeface="Courier New" panose="02070309020205020404" pitchFamily="49" charset="0"/>
              </a:rPr>
              <a:t>my_Z</a:t>
            </a:r>
            <a:r>
              <a:rPr lang="en-US" dirty="0">
                <a:latin typeface="Courier New" panose="02070309020205020404" pitchFamily="49" charset="0"/>
                <a:cs typeface="Courier New" panose="02070309020205020404" pitchFamily="49" charset="0"/>
              </a:rPr>
              <a:t> = 'Z';</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char </a:t>
            </a:r>
            <a:r>
              <a:rPr lang="en-US" dirty="0" err="1">
                <a:latin typeface="Courier New" panose="02070309020205020404" pitchFamily="49" charset="0"/>
                <a:cs typeface="Courier New" panose="02070309020205020404" pitchFamily="49" charset="0"/>
              </a:rPr>
              <a:t>my_a</a:t>
            </a:r>
            <a:r>
              <a:rPr lang="en-US" dirty="0">
                <a:latin typeface="Courier New" panose="02070309020205020404" pitchFamily="49" charset="0"/>
                <a:cs typeface="Courier New" panose="02070309020205020404" pitchFamily="49" charset="0"/>
              </a:rPr>
              <a:t> = 'a';</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char </a:t>
            </a:r>
            <a:r>
              <a:rPr lang="en-US" dirty="0" err="1">
                <a:latin typeface="Courier New" panose="02070309020205020404" pitchFamily="49" charset="0"/>
                <a:cs typeface="Courier New" panose="02070309020205020404" pitchFamily="49" charset="0"/>
              </a:rPr>
              <a:t>my_z</a:t>
            </a:r>
            <a:r>
              <a:rPr lang="en-US" dirty="0">
                <a:latin typeface="Courier New" panose="02070309020205020404" pitchFamily="49" charset="0"/>
                <a:cs typeface="Courier New" panose="02070309020205020404" pitchFamily="49" charset="0"/>
              </a:rPr>
              <a:t> = 'z';</a:t>
            </a:r>
          </a:p>
          <a:p>
            <a:pPr eaLnBrk="1" hangingPunct="1">
              <a:lnSpc>
                <a:spcPct val="70000"/>
              </a:lnSpc>
              <a:spcBef>
                <a:spcPts val="0"/>
              </a:spcBef>
              <a:buFont typeface="Wingdings" panose="05000000000000000000" pitchFamily="2" charset="2"/>
              <a:buNone/>
            </a:pPr>
            <a:endParaRPr lang="en-US" dirty="0">
              <a:latin typeface="Courier New" panose="02070309020205020404" pitchFamily="49" charset="0"/>
              <a:cs typeface="Courier New" panose="02070309020205020404" pitchFamily="49" charset="0"/>
            </a:endParaRP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nASCII</a:t>
            </a:r>
            <a:r>
              <a:rPr lang="en-US" dirty="0">
                <a:latin typeface="Courier New" panose="02070309020205020404" pitchFamily="49" charset="0"/>
                <a:cs typeface="Courier New" panose="02070309020205020404" pitchFamily="49" charset="0"/>
              </a:rPr>
              <a:t> value for A is %d", </a:t>
            </a:r>
            <a:r>
              <a:rPr lang="en-US" dirty="0" err="1">
                <a:latin typeface="Courier New" panose="02070309020205020404" pitchFamily="49" charset="0"/>
                <a:cs typeface="Courier New" panose="02070309020205020404" pitchFamily="49" charset="0"/>
              </a:rPr>
              <a:t>my_A</a:t>
            </a:r>
            <a:r>
              <a:rPr lang="en-US" dirty="0">
                <a:latin typeface="Courier New" panose="02070309020205020404" pitchFamily="49" charset="0"/>
                <a:cs typeface="Courier New" panose="02070309020205020404" pitchFamily="49" charset="0"/>
              </a:rPr>
              <a:t>);</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nASCII</a:t>
            </a:r>
            <a:r>
              <a:rPr lang="en-US" dirty="0">
                <a:latin typeface="Courier New" panose="02070309020205020404" pitchFamily="49" charset="0"/>
                <a:cs typeface="Courier New" panose="02070309020205020404" pitchFamily="49" charset="0"/>
              </a:rPr>
              <a:t> value for Z is %d",</a:t>
            </a:r>
            <a:r>
              <a:rPr lang="en-US" dirty="0" err="1">
                <a:latin typeface="Courier New" panose="02070309020205020404" pitchFamily="49" charset="0"/>
                <a:cs typeface="Courier New" panose="02070309020205020404" pitchFamily="49" charset="0"/>
              </a:rPr>
              <a:t>my_Z</a:t>
            </a:r>
            <a:r>
              <a:rPr lang="en-US" dirty="0">
                <a:latin typeface="Courier New" panose="02070309020205020404" pitchFamily="49" charset="0"/>
                <a:cs typeface="Courier New" panose="02070309020205020404" pitchFamily="49" charset="0"/>
              </a:rPr>
              <a:t>);</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nASCII</a:t>
            </a:r>
            <a:r>
              <a:rPr lang="en-US" dirty="0">
                <a:latin typeface="Courier New" panose="02070309020205020404" pitchFamily="49" charset="0"/>
                <a:cs typeface="Courier New" panose="02070309020205020404" pitchFamily="49" charset="0"/>
              </a:rPr>
              <a:t> value for a is %d", </a:t>
            </a:r>
            <a:r>
              <a:rPr lang="en-US" dirty="0" err="1">
                <a:latin typeface="Courier New" panose="02070309020205020404" pitchFamily="49" charset="0"/>
                <a:cs typeface="Courier New" panose="02070309020205020404" pitchFamily="49" charset="0"/>
              </a:rPr>
              <a:t>my_a</a:t>
            </a:r>
            <a:r>
              <a:rPr lang="en-US" dirty="0">
                <a:latin typeface="Courier New" panose="02070309020205020404" pitchFamily="49" charset="0"/>
                <a:cs typeface="Courier New" panose="02070309020205020404" pitchFamily="49" charset="0"/>
              </a:rPr>
              <a:t>);</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nASCII</a:t>
            </a:r>
            <a:r>
              <a:rPr lang="en-US" dirty="0">
                <a:latin typeface="Courier New" panose="02070309020205020404" pitchFamily="49" charset="0"/>
                <a:cs typeface="Courier New" panose="02070309020205020404" pitchFamily="49" charset="0"/>
              </a:rPr>
              <a:t> value for z is %d",</a:t>
            </a:r>
            <a:r>
              <a:rPr lang="en-US" dirty="0" err="1">
                <a:latin typeface="Courier New" panose="02070309020205020404" pitchFamily="49" charset="0"/>
                <a:cs typeface="Courier New" panose="02070309020205020404" pitchFamily="49" charset="0"/>
              </a:rPr>
              <a:t>my_z</a:t>
            </a:r>
            <a:r>
              <a:rPr lang="en-US" dirty="0">
                <a:latin typeface="Courier New" panose="02070309020205020404" pitchFamily="49" charset="0"/>
                <a:cs typeface="Courier New" panose="02070309020205020404" pitchFamily="49" charset="0"/>
              </a:rPr>
              <a:t>);</a:t>
            </a:r>
          </a:p>
          <a:p>
            <a:pPr eaLnBrk="1" hangingPunct="1">
              <a:lnSpc>
                <a:spcPct val="70000"/>
              </a:lnSpc>
              <a:spcBef>
                <a:spcPts val="0"/>
              </a:spcBef>
              <a:buFont typeface="Wingdings" panose="05000000000000000000" pitchFamily="2" charset="2"/>
              <a:buNone/>
            </a:pPr>
            <a:endParaRPr lang="en-US" dirty="0">
              <a:latin typeface="Courier New" panose="02070309020205020404" pitchFamily="49" charset="0"/>
              <a:cs typeface="Courier New" panose="02070309020205020404" pitchFamily="49" charset="0"/>
            </a:endParaRP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("\n");</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("\n65 in ASCII represents %c",65);</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("\n90 in ASCII represents %c",90);</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("\n97 in ASCII represents %c",97);</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("\n122 in ASCII represents %c",122);</a:t>
            </a:r>
          </a:p>
          <a:p>
            <a:pPr eaLnBrk="1" hangingPunct="1">
              <a:lnSpc>
                <a:spcPct val="70000"/>
              </a:lnSpc>
              <a:spcBef>
                <a:spcPts val="0"/>
              </a:spcBef>
              <a:buFont typeface="Wingdings" panose="05000000000000000000" pitchFamily="2" charset="2"/>
              <a:buNone/>
            </a:pP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955524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pPr eaLnBrk="1" hangingPunct="1"/>
            <a:r>
              <a:rPr lang="en-US" dirty="0"/>
              <a:t>Sample Output</a:t>
            </a:r>
          </a:p>
        </p:txBody>
      </p:sp>
      <p:sp>
        <p:nvSpPr>
          <p:cNvPr id="15363" name="Rectangle 3"/>
          <p:cNvSpPr>
            <a:spLocks noGrp="1" noChangeArrowheads="1"/>
          </p:cNvSpPr>
          <p:nvPr>
            <p:ph idx="1"/>
          </p:nvPr>
        </p:nvSpPr>
        <p:spPr/>
        <p:txBody>
          <a:bodyPr/>
          <a:lstStyle/>
          <a:p>
            <a:pPr eaLnBrk="1" hangingPunct="1">
              <a:buFont typeface="Wingdings" panose="05000000000000000000" pitchFamily="2" charset="2"/>
              <a:buNone/>
            </a:pPr>
            <a:r>
              <a:rPr lang="en-US" sz="2000" dirty="0"/>
              <a:t>	ASCII value for A is 65</a:t>
            </a:r>
          </a:p>
          <a:p>
            <a:pPr eaLnBrk="1" hangingPunct="1">
              <a:buFont typeface="Wingdings" panose="05000000000000000000" pitchFamily="2" charset="2"/>
              <a:buNone/>
            </a:pPr>
            <a:r>
              <a:rPr lang="en-US" sz="2000" dirty="0"/>
              <a:t>	ASCII value for Z is 90</a:t>
            </a:r>
          </a:p>
          <a:p>
            <a:pPr eaLnBrk="1" hangingPunct="1">
              <a:buFont typeface="Wingdings" panose="05000000000000000000" pitchFamily="2" charset="2"/>
              <a:buNone/>
            </a:pPr>
            <a:r>
              <a:rPr lang="en-US" sz="2000" dirty="0"/>
              <a:t>	ASCII value for a is 97</a:t>
            </a:r>
          </a:p>
          <a:p>
            <a:pPr eaLnBrk="1" hangingPunct="1">
              <a:buFont typeface="Wingdings" panose="05000000000000000000" pitchFamily="2" charset="2"/>
              <a:buNone/>
            </a:pPr>
            <a:r>
              <a:rPr lang="en-US" sz="2000" dirty="0"/>
              <a:t>	ASCII value for z is 122</a:t>
            </a:r>
          </a:p>
          <a:p>
            <a:pPr eaLnBrk="1" hangingPunct="1">
              <a:buFont typeface="Wingdings" panose="05000000000000000000" pitchFamily="2" charset="2"/>
              <a:buNone/>
            </a:pPr>
            <a:endParaRPr lang="en-US" sz="2000" dirty="0"/>
          </a:p>
          <a:p>
            <a:pPr eaLnBrk="1" hangingPunct="1">
              <a:buFont typeface="Wingdings" panose="05000000000000000000" pitchFamily="2" charset="2"/>
              <a:buNone/>
            </a:pPr>
            <a:r>
              <a:rPr lang="en-US" sz="2000" dirty="0"/>
              <a:t>	65 in ASCII represents A</a:t>
            </a:r>
          </a:p>
          <a:p>
            <a:pPr eaLnBrk="1" hangingPunct="1">
              <a:buFont typeface="Wingdings" panose="05000000000000000000" pitchFamily="2" charset="2"/>
              <a:buNone/>
            </a:pPr>
            <a:r>
              <a:rPr lang="en-US" sz="2000" dirty="0"/>
              <a:t>	90 in ASCII  represents Z</a:t>
            </a:r>
          </a:p>
          <a:p>
            <a:pPr eaLnBrk="1" hangingPunct="1">
              <a:buFont typeface="Wingdings" panose="05000000000000000000" pitchFamily="2" charset="2"/>
              <a:buNone/>
            </a:pPr>
            <a:r>
              <a:rPr lang="en-US" sz="2000" dirty="0"/>
              <a:t>	97 in ASCII represents a</a:t>
            </a:r>
          </a:p>
          <a:p>
            <a:pPr eaLnBrk="1" hangingPunct="1">
              <a:buFont typeface="Wingdings" panose="05000000000000000000" pitchFamily="2" charset="2"/>
              <a:buNone/>
            </a:pPr>
            <a:r>
              <a:rPr lang="en-US" sz="2000" dirty="0"/>
              <a:t>	122 in ASCII represents z</a:t>
            </a:r>
          </a:p>
          <a:p>
            <a:pPr eaLnBrk="1" hangingPunct="1"/>
            <a:endParaRPr lang="en-US" dirty="0"/>
          </a:p>
        </p:txBody>
      </p:sp>
    </p:spTree>
    <p:extLst>
      <p:ext uri="{BB962C8B-B14F-4D97-AF65-F5344CB8AC3E}">
        <p14:creationId xmlns:p14="http://schemas.microsoft.com/office/powerpoint/2010/main" val="3077071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pPr eaLnBrk="1" hangingPunct="1"/>
            <a:r>
              <a:rPr lang="en-US" dirty="0"/>
              <a:t>Example</a:t>
            </a:r>
          </a:p>
        </p:txBody>
      </p:sp>
      <p:sp>
        <p:nvSpPr>
          <p:cNvPr id="16387" name="Rectangle 5"/>
          <p:cNvSpPr>
            <a:spLocks noGrp="1" noChangeArrowheads="1"/>
          </p:cNvSpPr>
          <p:nvPr>
            <p:ph idx="1"/>
          </p:nvPr>
        </p:nvSpPr>
        <p:spPr>
          <a:xfrm>
            <a:off x="155575" y="939800"/>
            <a:ext cx="4853153" cy="2799687"/>
          </a:xfrm>
          <a:ln>
            <a:solidFill>
              <a:srgbClr val="FF0000"/>
            </a:solidFill>
            <a:miter lim="800000"/>
            <a:headEnd/>
            <a:tailEnd/>
          </a:ln>
        </p:spPr>
        <p:txBody>
          <a:bodyPr/>
          <a:lstStyle/>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#include &lt;</a:t>
            </a:r>
            <a:r>
              <a:rPr lang="en-US" sz="1600" b="1" dirty="0" err="1">
                <a:latin typeface="Courier New" panose="02070309020205020404" pitchFamily="49" charset="0"/>
                <a:cs typeface="Courier New" panose="02070309020205020404" pitchFamily="49" charset="0"/>
              </a:rPr>
              <a:t>stdio.h</a:t>
            </a:r>
            <a:r>
              <a:rPr lang="en-US" sz="1600" b="1" dirty="0">
                <a:latin typeface="Courier New" panose="02070309020205020404" pitchFamily="49" charset="0"/>
                <a:cs typeface="Courier New" panose="02070309020205020404" pitchFamily="49" charset="0"/>
              </a:rPr>
              <a:t>&gt;</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a:t>
            </a:r>
          </a:p>
          <a:p>
            <a:pPr eaLnBrk="1" hangingPunct="1">
              <a:spcBef>
                <a:spcPts val="0"/>
              </a:spcBef>
              <a:buFont typeface="Wingdings" panose="05000000000000000000" pitchFamily="2" charset="2"/>
              <a:buNone/>
            </a:pPr>
            <a:r>
              <a:rPr lang="en-US" sz="1600" b="1" dirty="0" err="1">
                <a:latin typeface="Courier New" panose="02070309020205020404" pitchFamily="49" charset="0"/>
                <a:cs typeface="Courier New" panose="02070309020205020404" pitchFamily="49" charset="0"/>
              </a:rPr>
              <a:t>int</a:t>
            </a:r>
            <a:r>
              <a:rPr lang="en-US" sz="1600" b="1" dirty="0">
                <a:latin typeface="Courier New" panose="02070309020205020404" pitchFamily="49" charset="0"/>
                <a:cs typeface="Courier New" panose="02070309020205020404" pitchFamily="49" charset="0"/>
              </a:rPr>
              <a:t> main()</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char </a:t>
            </a:r>
            <a:r>
              <a:rPr lang="en-US" sz="1600" b="1" dirty="0" err="1">
                <a:latin typeface="Courier New" panose="02070309020205020404" pitchFamily="49" charset="0"/>
                <a:cs typeface="Courier New" panose="02070309020205020404" pitchFamily="49" charset="0"/>
              </a:rPr>
              <a:t>ch</a:t>
            </a:r>
            <a:r>
              <a:rPr lang="en-US" sz="1600" b="1" dirty="0">
                <a:latin typeface="Courier New" panose="02070309020205020404" pitchFamily="49" charset="0"/>
                <a:cs typeface="Courier New" panose="02070309020205020404" pitchFamily="49" charset="0"/>
              </a:rPr>
              <a:t>;</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printf</a:t>
            </a:r>
            <a:r>
              <a:rPr lang="en-US" sz="1600" b="1" dirty="0">
                <a:latin typeface="Courier New" panose="02070309020205020404" pitchFamily="49" charset="0"/>
                <a:cs typeface="Courier New" panose="02070309020205020404" pitchFamily="49" charset="0"/>
              </a:rPr>
              <a:t>("enter a character: ");</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scanf</a:t>
            </a:r>
            <a:r>
              <a:rPr lang="en-US" sz="1600" b="1" dirty="0">
                <a:latin typeface="Courier New" panose="02070309020205020404" pitchFamily="49" charset="0"/>
                <a:cs typeface="Courier New" panose="02070309020205020404" pitchFamily="49" charset="0"/>
              </a:rPr>
              <a:t>("%c", &amp;</a:t>
            </a:r>
            <a:r>
              <a:rPr lang="en-US" sz="1600" b="1" dirty="0" err="1">
                <a:latin typeface="Courier New" panose="02070309020205020404" pitchFamily="49" charset="0"/>
                <a:cs typeface="Courier New" panose="02070309020205020404" pitchFamily="49" charset="0"/>
              </a:rPr>
              <a:t>ch</a:t>
            </a:r>
            <a:r>
              <a:rPr lang="en-US" sz="1600" b="1" dirty="0">
                <a:latin typeface="Courier New" panose="02070309020205020404" pitchFamily="49" charset="0"/>
                <a:cs typeface="Courier New" panose="02070309020205020404" pitchFamily="49" charset="0"/>
              </a:rPr>
              <a:t>); </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if (</a:t>
            </a:r>
            <a:r>
              <a:rPr lang="en-US" sz="1600" b="1" dirty="0" err="1">
                <a:latin typeface="Courier New" panose="02070309020205020404" pitchFamily="49" charset="0"/>
                <a:cs typeface="Courier New" panose="02070309020205020404" pitchFamily="49" charset="0"/>
              </a:rPr>
              <a:t>ch</a:t>
            </a:r>
            <a:r>
              <a:rPr lang="en-US" sz="1600" b="1" dirty="0">
                <a:latin typeface="Courier New" panose="02070309020205020404" pitchFamily="49" charset="0"/>
                <a:cs typeface="Courier New" panose="02070309020205020404" pitchFamily="49" charset="0"/>
              </a:rPr>
              <a:t> &gt;= ‘A’ &amp;&amp; </a:t>
            </a:r>
            <a:r>
              <a:rPr lang="en-US" sz="1600" b="1" dirty="0" err="1">
                <a:latin typeface="Courier New" panose="02070309020205020404" pitchFamily="49" charset="0"/>
                <a:cs typeface="Courier New" panose="02070309020205020404" pitchFamily="49" charset="0"/>
              </a:rPr>
              <a:t>ch</a:t>
            </a:r>
            <a:r>
              <a:rPr lang="en-US" sz="1600" b="1" dirty="0">
                <a:latin typeface="Courier New" panose="02070309020205020404" pitchFamily="49" charset="0"/>
                <a:cs typeface="Courier New" panose="02070309020205020404" pitchFamily="49" charset="0"/>
              </a:rPr>
              <a:t> &lt;= ‘Z’)</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printf</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ncapital</a:t>
            </a:r>
            <a:r>
              <a:rPr lang="en-US" sz="1600" b="1" dirty="0">
                <a:latin typeface="Courier New" panose="02070309020205020404" pitchFamily="49" charset="0"/>
                <a:cs typeface="Courier New" panose="02070309020205020404" pitchFamily="49" charset="0"/>
              </a:rPr>
              <a:t> letter\n");</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return 0;</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a:t>
            </a:r>
          </a:p>
        </p:txBody>
      </p:sp>
      <p:sp>
        <p:nvSpPr>
          <p:cNvPr id="16390" name="Text Box 7"/>
          <p:cNvSpPr txBox="1">
            <a:spLocks noChangeArrowheads="1"/>
          </p:cNvSpPr>
          <p:nvPr/>
        </p:nvSpPr>
        <p:spPr bwMode="auto">
          <a:xfrm>
            <a:off x="6038555" y="3595579"/>
            <a:ext cx="2176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dirty="0"/>
              <a:t>equivalent to</a:t>
            </a:r>
          </a:p>
        </p:txBody>
      </p:sp>
      <p:sp>
        <p:nvSpPr>
          <p:cNvPr id="16391" name="AutoShape 9"/>
          <p:cNvSpPr>
            <a:spLocks noChangeArrowheads="1"/>
          </p:cNvSpPr>
          <p:nvPr/>
        </p:nvSpPr>
        <p:spPr bwMode="auto">
          <a:xfrm rot="5400000" flipV="1">
            <a:off x="4562035" y="3730651"/>
            <a:ext cx="2133600" cy="408550"/>
          </a:xfrm>
          <a:prstGeom prst="curvedUpArrow">
            <a:avLst>
              <a:gd name="adj1" fmla="val 82159"/>
              <a:gd name="adj2" fmla="val 194159"/>
              <a:gd name="adj3" fmla="val 33333"/>
            </a:avLst>
          </a:prstGeom>
          <a:solidFill>
            <a:srgbClr val="FF0000"/>
          </a:solidFill>
          <a:ln w="12700" cap="sq">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
        <p:nvSpPr>
          <p:cNvPr id="8" name="Rectangle 5"/>
          <p:cNvSpPr txBox="1">
            <a:spLocks noChangeArrowheads="1"/>
          </p:cNvSpPr>
          <p:nvPr/>
        </p:nvSpPr>
        <p:spPr bwMode="auto">
          <a:xfrm>
            <a:off x="423201" y="3934926"/>
            <a:ext cx="4795913" cy="2716748"/>
          </a:xfrm>
          <a:prstGeom prst="rect">
            <a:avLst/>
          </a:prstGeom>
          <a:noFill/>
          <a:ln>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182563" indent="-182563" algn="l" rtl="0" eaLnBrk="0" fontAlgn="base" hangingPunct="0">
              <a:spcBef>
                <a:spcPts val="900"/>
              </a:spcBef>
              <a:spcAft>
                <a:spcPct val="0"/>
              </a:spcAft>
              <a:buClr>
                <a:srgbClr val="262626"/>
              </a:buClr>
              <a:buFont typeface="Garamond" panose="02020404030301010803" pitchFamily="18" charset="0"/>
              <a:buChar char="◦"/>
              <a:defRPr kern="1200">
                <a:solidFill>
                  <a:schemeClr val="tx1"/>
                </a:solidFill>
                <a:latin typeface="+mn-lt"/>
                <a:ea typeface="+mn-ea"/>
                <a:cs typeface="+mn-cs"/>
              </a:defRPr>
            </a:lvl1pPr>
            <a:lvl2pPr marL="457200" indent="-182563" algn="l" rtl="0" eaLnBrk="0" fontAlgn="base" hangingPunct="0">
              <a:spcBef>
                <a:spcPts val="500"/>
              </a:spcBef>
              <a:spcAft>
                <a:spcPct val="0"/>
              </a:spcAft>
              <a:buClr>
                <a:srgbClr val="262626"/>
              </a:buClr>
              <a:buFont typeface="Garamond" panose="02020404030301010803" pitchFamily="18" charset="0"/>
              <a:buChar char="◦"/>
              <a:defRPr sz="1600" kern="1200">
                <a:solidFill>
                  <a:schemeClr val="tx1"/>
                </a:solidFill>
                <a:latin typeface="+mn-lt"/>
                <a:ea typeface="+mn-ea"/>
                <a:cs typeface="+mn-cs"/>
              </a:defRPr>
            </a:lvl2pPr>
            <a:lvl3pPr marL="730250" indent="-182563" algn="l" rtl="0" eaLnBrk="0" fontAlgn="base" hangingPunct="0">
              <a:spcBef>
                <a:spcPts val="500"/>
              </a:spcBef>
              <a:spcAft>
                <a:spcPct val="0"/>
              </a:spcAft>
              <a:buClr>
                <a:srgbClr val="262626"/>
              </a:buClr>
              <a:buFont typeface="Garamond" panose="02020404030301010803" pitchFamily="18" charset="0"/>
              <a:buChar char="◦"/>
              <a:defRPr sz="1400" kern="1200">
                <a:solidFill>
                  <a:schemeClr val="tx1"/>
                </a:solidFill>
                <a:latin typeface="+mn-lt"/>
                <a:ea typeface="+mn-ea"/>
                <a:cs typeface="+mn-cs"/>
              </a:defRPr>
            </a:lvl3pPr>
            <a:lvl4pPr marL="1004888" indent="-182563" algn="l" rtl="0" eaLnBrk="0" fontAlgn="base" hangingPunct="0">
              <a:spcBef>
                <a:spcPts val="500"/>
              </a:spcBef>
              <a:spcAft>
                <a:spcPct val="0"/>
              </a:spcAft>
              <a:buClr>
                <a:srgbClr val="262626"/>
              </a:buClr>
              <a:buFont typeface="Garamond" panose="02020404030301010803" pitchFamily="18" charset="0"/>
              <a:buChar char="◦"/>
              <a:defRPr sz="1400" kern="1200">
                <a:solidFill>
                  <a:schemeClr val="tx1"/>
                </a:solidFill>
                <a:latin typeface="+mn-lt"/>
                <a:ea typeface="+mn-ea"/>
                <a:cs typeface="+mn-cs"/>
              </a:defRPr>
            </a:lvl4pPr>
            <a:lvl5pPr marL="1279525" indent="-182563" algn="l" rtl="0" eaLnBrk="0" fontAlgn="base" hangingPunct="0">
              <a:spcBef>
                <a:spcPts val="500"/>
              </a:spcBef>
              <a:spcAft>
                <a:spcPct val="0"/>
              </a:spcAft>
              <a:buClr>
                <a:srgbClr val="262626"/>
              </a:buClr>
              <a:buFont typeface="Garamond" panose="02020404030301010803"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#include &lt;</a:t>
            </a:r>
            <a:r>
              <a:rPr lang="en-US" sz="1600" b="1" dirty="0" err="1">
                <a:latin typeface="Courier New" panose="02070309020205020404" pitchFamily="49" charset="0"/>
                <a:cs typeface="Courier New" panose="02070309020205020404" pitchFamily="49" charset="0"/>
              </a:rPr>
              <a:t>stdio.h</a:t>
            </a:r>
            <a:r>
              <a:rPr lang="en-US" sz="1600" b="1" dirty="0">
                <a:latin typeface="Courier New" panose="02070309020205020404" pitchFamily="49" charset="0"/>
                <a:cs typeface="Courier New" panose="02070309020205020404" pitchFamily="49" charset="0"/>
              </a:rPr>
              <a:t>&gt;</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a:t>
            </a:r>
          </a:p>
          <a:p>
            <a:pPr eaLnBrk="1" hangingPunct="1">
              <a:spcBef>
                <a:spcPts val="0"/>
              </a:spcBef>
              <a:buFont typeface="Wingdings" panose="05000000000000000000" pitchFamily="2" charset="2"/>
              <a:buNone/>
            </a:pPr>
            <a:r>
              <a:rPr lang="en-US" sz="1600" b="1" dirty="0" err="1">
                <a:latin typeface="Courier New" panose="02070309020205020404" pitchFamily="49" charset="0"/>
                <a:cs typeface="Courier New" panose="02070309020205020404" pitchFamily="49" charset="0"/>
              </a:rPr>
              <a:t>int</a:t>
            </a:r>
            <a:r>
              <a:rPr lang="en-US" sz="1600" b="1" dirty="0">
                <a:latin typeface="Courier New" panose="02070309020205020404" pitchFamily="49" charset="0"/>
                <a:cs typeface="Courier New" panose="02070309020205020404" pitchFamily="49" charset="0"/>
              </a:rPr>
              <a:t> main()</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char </a:t>
            </a:r>
            <a:r>
              <a:rPr lang="en-US" sz="1600" b="1" dirty="0" err="1">
                <a:latin typeface="Courier New" panose="02070309020205020404" pitchFamily="49" charset="0"/>
                <a:cs typeface="Courier New" panose="02070309020205020404" pitchFamily="49" charset="0"/>
              </a:rPr>
              <a:t>ch</a:t>
            </a:r>
            <a:r>
              <a:rPr lang="en-US" sz="1600" b="1" dirty="0">
                <a:latin typeface="Courier New" panose="02070309020205020404" pitchFamily="49" charset="0"/>
                <a:cs typeface="Courier New" panose="02070309020205020404" pitchFamily="49" charset="0"/>
              </a:rPr>
              <a:t>;</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printf</a:t>
            </a:r>
            <a:r>
              <a:rPr lang="en-US" sz="1600" b="1" dirty="0">
                <a:latin typeface="Courier New" panose="02070309020205020404" pitchFamily="49" charset="0"/>
                <a:cs typeface="Courier New" panose="02070309020205020404" pitchFamily="49" charset="0"/>
              </a:rPr>
              <a:t>("enter a character: ");</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scanf</a:t>
            </a:r>
            <a:r>
              <a:rPr lang="en-US" sz="1600" b="1" dirty="0">
                <a:latin typeface="Courier New" panose="02070309020205020404" pitchFamily="49" charset="0"/>
                <a:cs typeface="Courier New" panose="02070309020205020404" pitchFamily="49" charset="0"/>
              </a:rPr>
              <a:t>("%c", &amp;</a:t>
            </a:r>
            <a:r>
              <a:rPr lang="en-US" sz="1600" b="1" dirty="0" err="1">
                <a:latin typeface="Courier New" panose="02070309020205020404" pitchFamily="49" charset="0"/>
                <a:cs typeface="Courier New" panose="02070309020205020404" pitchFamily="49" charset="0"/>
              </a:rPr>
              <a:t>ch</a:t>
            </a:r>
            <a:r>
              <a:rPr lang="en-US" sz="1600" b="1" dirty="0">
                <a:latin typeface="Courier New" panose="02070309020205020404" pitchFamily="49" charset="0"/>
                <a:cs typeface="Courier New" panose="02070309020205020404" pitchFamily="49" charset="0"/>
              </a:rPr>
              <a:t>); </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if (</a:t>
            </a:r>
            <a:r>
              <a:rPr lang="en-US" sz="1600" b="1" dirty="0" err="1">
                <a:latin typeface="Courier New" panose="02070309020205020404" pitchFamily="49" charset="0"/>
                <a:cs typeface="Courier New" panose="02070309020205020404" pitchFamily="49" charset="0"/>
              </a:rPr>
              <a:t>ch</a:t>
            </a:r>
            <a:r>
              <a:rPr lang="en-US" sz="1600" b="1" dirty="0">
                <a:latin typeface="Courier New" panose="02070309020205020404" pitchFamily="49" charset="0"/>
                <a:cs typeface="Courier New" panose="02070309020205020404" pitchFamily="49" charset="0"/>
              </a:rPr>
              <a:t> &gt;= 65 &amp;&amp; </a:t>
            </a:r>
            <a:r>
              <a:rPr lang="en-US" sz="1600" b="1" dirty="0" err="1">
                <a:latin typeface="Courier New" panose="02070309020205020404" pitchFamily="49" charset="0"/>
                <a:cs typeface="Courier New" panose="02070309020205020404" pitchFamily="49" charset="0"/>
              </a:rPr>
              <a:t>ch</a:t>
            </a:r>
            <a:r>
              <a:rPr lang="en-US" sz="1600" b="1" dirty="0">
                <a:latin typeface="Courier New" panose="02070309020205020404" pitchFamily="49" charset="0"/>
                <a:cs typeface="Courier New" panose="02070309020205020404" pitchFamily="49" charset="0"/>
              </a:rPr>
              <a:t> &lt;= 90)</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printf</a:t>
            </a:r>
            <a:r>
              <a:rPr lang="en-US" sz="1600" b="1" dirty="0">
                <a:latin typeface="Courier New" panose="02070309020205020404" pitchFamily="49" charset="0"/>
                <a:cs typeface="Courier New" panose="02070309020205020404" pitchFamily="49" charset="0"/>
              </a:rPr>
              <a:t>("\</a:t>
            </a:r>
            <a:r>
              <a:rPr lang="en-US" sz="1600" b="1" dirty="0" err="1">
                <a:latin typeface="Courier New" panose="02070309020205020404" pitchFamily="49" charset="0"/>
                <a:cs typeface="Courier New" panose="02070309020205020404" pitchFamily="49" charset="0"/>
              </a:rPr>
              <a:t>ncapital</a:t>
            </a:r>
            <a:r>
              <a:rPr lang="en-US" sz="1600" b="1" dirty="0">
                <a:latin typeface="Courier New" panose="02070309020205020404" pitchFamily="49" charset="0"/>
                <a:cs typeface="Courier New" panose="02070309020205020404" pitchFamily="49" charset="0"/>
              </a:rPr>
              <a:t> letter\n");</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	return 0;</a:t>
            </a:r>
          </a:p>
          <a:p>
            <a:pPr eaLnBrk="1" hangingPunct="1">
              <a:spcBef>
                <a:spcPts val="0"/>
              </a:spcBef>
              <a:buFont typeface="Wingdings" panose="05000000000000000000" pitchFamily="2" charset="2"/>
              <a:buNone/>
            </a:pPr>
            <a:r>
              <a:rPr lang="en-US" sz="16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4978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fontScale="90000"/>
          </a:bodyPr>
          <a:lstStyle/>
          <a:p>
            <a:pPr eaLnBrk="1" hangingPunct="1"/>
            <a:r>
              <a:rPr lang="en-US" sz="4400" dirty="0"/>
              <a:t>String Declaration and Initialization</a:t>
            </a:r>
          </a:p>
        </p:txBody>
      </p:sp>
      <p:sp>
        <p:nvSpPr>
          <p:cNvPr id="17411" name="Rectangle 3"/>
          <p:cNvSpPr>
            <a:spLocks noGrp="1" noChangeArrowheads="1"/>
          </p:cNvSpPr>
          <p:nvPr>
            <p:ph idx="1"/>
          </p:nvPr>
        </p:nvSpPr>
        <p:spPr/>
        <p:txBody>
          <a:bodyPr/>
          <a:lstStyle/>
          <a:p>
            <a:pPr eaLnBrk="1" hangingPunct="1"/>
            <a:r>
              <a:rPr lang="en-US" sz="2400" dirty="0"/>
              <a:t>A string in C is an </a:t>
            </a:r>
            <a:r>
              <a:rPr lang="en-US" sz="2400" b="1" dirty="0"/>
              <a:t>array</a:t>
            </a:r>
            <a:r>
              <a:rPr lang="en-US" sz="2400" dirty="0"/>
              <a:t> </a:t>
            </a:r>
            <a:r>
              <a:rPr lang="en-US" sz="2400" b="1" dirty="0"/>
              <a:t>of characters </a:t>
            </a:r>
            <a:r>
              <a:rPr lang="en-US" sz="2400" u="sng" dirty="0"/>
              <a:t>ending with the null character (</a:t>
            </a:r>
            <a:r>
              <a:rPr lang="en-US" sz="2400" u="sng" dirty="0">
                <a:latin typeface="Courier New" panose="02070309020205020404" pitchFamily="49" charset="0"/>
                <a:cs typeface="Courier New" panose="02070309020205020404" pitchFamily="49" charset="0"/>
              </a:rPr>
              <a:t>‘\0’</a:t>
            </a:r>
            <a:r>
              <a:rPr lang="en-US" sz="2400" u="sng" dirty="0"/>
              <a:t>)</a:t>
            </a:r>
            <a:r>
              <a:rPr lang="en-US" sz="2400" dirty="0"/>
              <a:t>. It is written inside a </a:t>
            </a:r>
            <a:r>
              <a:rPr lang="en-US" sz="2400" dirty="0">
                <a:solidFill>
                  <a:srgbClr val="C00000"/>
                </a:solidFill>
              </a:rPr>
              <a:t>double quotation mark (</a:t>
            </a:r>
            <a:r>
              <a:rPr lang="en-US" sz="2400" dirty="0">
                <a:solidFill>
                  <a:srgbClr val="C00000"/>
                </a:solidFill>
                <a:latin typeface="Courier New" panose="02070309020205020404" pitchFamily="49" charset="0"/>
                <a:cs typeface="Courier New" panose="02070309020205020404" pitchFamily="49" charset="0"/>
              </a:rPr>
              <a:t>“ ”</a:t>
            </a:r>
            <a:r>
              <a:rPr lang="en-US" sz="2400" dirty="0">
                <a:solidFill>
                  <a:srgbClr val="C00000"/>
                </a:solidFill>
              </a:rPr>
              <a:t>) </a:t>
            </a:r>
          </a:p>
          <a:p>
            <a:pPr eaLnBrk="1" hangingPunct="1"/>
            <a:r>
              <a:rPr lang="en-US" sz="2400" dirty="0"/>
              <a:t>A string can be assigned (in a declaration) to a char array:</a:t>
            </a:r>
          </a:p>
          <a:p>
            <a:pPr lvl="1" eaLnBrk="1" hangingPunct="1"/>
            <a:r>
              <a:rPr lang="en-US" sz="2800" b="1" dirty="0">
                <a:latin typeface="Courier New" panose="02070309020205020404" pitchFamily="49" charset="0"/>
                <a:cs typeface="Courier New" panose="02070309020205020404" pitchFamily="49" charset="0"/>
              </a:rPr>
              <a:t>char color[6] = “green”; </a:t>
            </a:r>
          </a:p>
        </p:txBody>
      </p:sp>
      <p:sp>
        <p:nvSpPr>
          <p:cNvPr id="7" name="TextBox 6"/>
          <p:cNvSpPr txBox="1"/>
          <p:nvPr/>
        </p:nvSpPr>
        <p:spPr>
          <a:xfrm>
            <a:off x="839372" y="4702945"/>
            <a:ext cx="998806" cy="400110"/>
          </a:xfrm>
          <a:prstGeom prst="rect">
            <a:avLst/>
          </a:prstGeom>
          <a:noFill/>
        </p:spPr>
        <p:txBody>
          <a:bodyPr wrap="square" rtlCol="0">
            <a:spAutoFit/>
          </a:bodyPr>
          <a:lstStyle/>
          <a:p>
            <a:r>
              <a:rPr lang="en-US" sz="2000" dirty="0">
                <a:latin typeface="Courier New" panose="02070309020205020404" pitchFamily="49" charset="0"/>
                <a:cs typeface="Courier New" panose="02070309020205020404" pitchFamily="49" charset="0"/>
              </a:rPr>
              <a:t>color</a:t>
            </a:r>
          </a:p>
        </p:txBody>
      </p:sp>
      <p:graphicFrame>
        <p:nvGraphicFramePr>
          <p:cNvPr id="8" name="Table 7"/>
          <p:cNvGraphicFramePr>
            <a:graphicFrameLocks noGrp="1"/>
          </p:cNvGraphicFramePr>
          <p:nvPr/>
        </p:nvGraphicFramePr>
        <p:xfrm>
          <a:off x="1861625" y="4549335"/>
          <a:ext cx="6096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5</a:t>
                      </a:r>
                    </a:p>
                  </a:txBody>
                  <a:tcPr/>
                </a:tc>
                <a:extLst>
                  <a:ext uri="{0D108BD9-81ED-4DB2-BD59-A6C34878D82A}">
                    <a16:rowId xmlns:a16="http://schemas.microsoft.com/office/drawing/2014/main" val="10000"/>
                  </a:ext>
                </a:extLst>
              </a:tr>
              <a:tr h="370840">
                <a:tc>
                  <a:txBody>
                    <a:bodyPr/>
                    <a:lstStyle/>
                    <a:p>
                      <a:pPr algn="ctr"/>
                      <a:r>
                        <a:rPr lang="en-US" dirty="0"/>
                        <a:t>‘g’</a:t>
                      </a:r>
                    </a:p>
                  </a:txBody>
                  <a:tcPr/>
                </a:tc>
                <a:tc>
                  <a:txBody>
                    <a:bodyPr/>
                    <a:lstStyle/>
                    <a:p>
                      <a:pPr algn="ctr"/>
                      <a:r>
                        <a:rPr lang="en-US" dirty="0"/>
                        <a:t>‘r’</a:t>
                      </a:r>
                    </a:p>
                  </a:txBody>
                  <a:tcPr/>
                </a:tc>
                <a:tc>
                  <a:txBody>
                    <a:bodyPr/>
                    <a:lstStyle/>
                    <a:p>
                      <a:pPr algn="ctr"/>
                      <a:r>
                        <a:rPr lang="en-US" dirty="0"/>
                        <a:t>‘e’</a:t>
                      </a:r>
                    </a:p>
                  </a:txBody>
                  <a:tcPr/>
                </a:tc>
                <a:tc>
                  <a:txBody>
                    <a:bodyPr/>
                    <a:lstStyle/>
                    <a:p>
                      <a:pPr algn="ctr"/>
                      <a:r>
                        <a:rPr lang="en-US" dirty="0"/>
                        <a:t>‘e’</a:t>
                      </a:r>
                    </a:p>
                  </a:txBody>
                  <a:tcPr/>
                </a:tc>
                <a:tc>
                  <a:txBody>
                    <a:bodyPr/>
                    <a:lstStyle/>
                    <a:p>
                      <a:pPr algn="ctr"/>
                      <a:r>
                        <a:rPr lang="en-US" dirty="0"/>
                        <a:t>‘n’</a:t>
                      </a:r>
                    </a:p>
                  </a:txBody>
                  <a:tcPr/>
                </a:tc>
                <a:tc>
                  <a:txBody>
                    <a:bodyPr/>
                    <a:lstStyle/>
                    <a:p>
                      <a:pPr algn="ctr"/>
                      <a:r>
                        <a:rPr lang="en-US" dirty="0"/>
                        <a:t>‘\0’</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35632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4"/>
          <p:cNvSpPr>
            <a:spLocks noGrp="1" noChangeArrowheads="1"/>
          </p:cNvSpPr>
          <p:nvPr>
            <p:ph type="title"/>
          </p:nvPr>
        </p:nvSpPr>
        <p:spPr/>
        <p:txBody>
          <a:bodyPr>
            <a:normAutofit fontScale="90000"/>
          </a:bodyPr>
          <a:lstStyle/>
          <a:p>
            <a:r>
              <a:rPr lang="en-US" dirty="0"/>
              <a:t>String Declaration and Initialization</a:t>
            </a:r>
            <a:endParaRPr lang="en-US" sz="4400" dirty="0"/>
          </a:p>
        </p:txBody>
      </p:sp>
      <p:sp>
        <p:nvSpPr>
          <p:cNvPr id="18435" name="Rectangle 3"/>
          <p:cNvSpPr>
            <a:spLocks noGrp="1" noChangeArrowheads="1"/>
          </p:cNvSpPr>
          <p:nvPr>
            <p:ph idx="1"/>
          </p:nvPr>
        </p:nvSpPr>
        <p:spPr/>
        <p:txBody>
          <a:bodyPr/>
          <a:lstStyle/>
          <a:p>
            <a:pPr eaLnBrk="1" hangingPunct="1"/>
            <a:r>
              <a:rPr lang="en-US" sz="2400" dirty="0"/>
              <a:t>A string can also be defined by specifying the individual characters:</a:t>
            </a:r>
          </a:p>
          <a:p>
            <a:pPr lvl="1" eaLnBrk="1" hangingPunct="1"/>
            <a:r>
              <a:rPr lang="en-US" sz="2000" b="1" dirty="0">
                <a:latin typeface="Courier New" panose="02070309020205020404" pitchFamily="49" charset="0"/>
                <a:cs typeface="Courier New" panose="02070309020205020404" pitchFamily="49" charset="0"/>
              </a:rPr>
              <a:t>char color[ ] = {‘g’, ‘r’, ‘e’, ‘e’, ‘n’, ‘\0’};</a:t>
            </a:r>
          </a:p>
          <a:p>
            <a:pPr eaLnBrk="1" hangingPunct="1">
              <a:buFont typeface="Wingdings" panose="05000000000000000000" pitchFamily="2" charset="2"/>
              <a:buNone/>
            </a:pPr>
            <a:endParaRPr lang="en-US" sz="2400" dirty="0"/>
          </a:p>
        </p:txBody>
      </p:sp>
      <p:sp>
        <p:nvSpPr>
          <p:cNvPr id="16" name="TextBox 15"/>
          <p:cNvSpPr txBox="1"/>
          <p:nvPr/>
        </p:nvSpPr>
        <p:spPr>
          <a:xfrm>
            <a:off x="839372" y="4702945"/>
            <a:ext cx="998806" cy="400110"/>
          </a:xfrm>
          <a:prstGeom prst="rect">
            <a:avLst/>
          </a:prstGeom>
          <a:noFill/>
        </p:spPr>
        <p:txBody>
          <a:bodyPr wrap="square" rtlCol="0">
            <a:spAutoFit/>
          </a:bodyPr>
          <a:lstStyle/>
          <a:p>
            <a:r>
              <a:rPr lang="en-US" sz="2000" dirty="0">
                <a:latin typeface="Courier New" panose="02070309020205020404" pitchFamily="49" charset="0"/>
                <a:cs typeface="Courier New" panose="02070309020205020404" pitchFamily="49" charset="0"/>
              </a:rPr>
              <a:t>color</a:t>
            </a:r>
          </a:p>
        </p:txBody>
      </p:sp>
      <p:graphicFrame>
        <p:nvGraphicFramePr>
          <p:cNvPr id="17" name="Table 16"/>
          <p:cNvGraphicFramePr>
            <a:graphicFrameLocks noGrp="1"/>
          </p:cNvGraphicFramePr>
          <p:nvPr/>
        </p:nvGraphicFramePr>
        <p:xfrm>
          <a:off x="1861625" y="4549335"/>
          <a:ext cx="6096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5</a:t>
                      </a:r>
                    </a:p>
                  </a:txBody>
                  <a:tcPr/>
                </a:tc>
                <a:extLst>
                  <a:ext uri="{0D108BD9-81ED-4DB2-BD59-A6C34878D82A}">
                    <a16:rowId xmlns:a16="http://schemas.microsoft.com/office/drawing/2014/main" val="10000"/>
                  </a:ext>
                </a:extLst>
              </a:tr>
              <a:tr h="370840">
                <a:tc>
                  <a:txBody>
                    <a:bodyPr/>
                    <a:lstStyle/>
                    <a:p>
                      <a:pPr algn="ctr"/>
                      <a:r>
                        <a:rPr lang="en-US" dirty="0"/>
                        <a:t>‘g’</a:t>
                      </a:r>
                    </a:p>
                  </a:txBody>
                  <a:tcPr/>
                </a:tc>
                <a:tc>
                  <a:txBody>
                    <a:bodyPr/>
                    <a:lstStyle/>
                    <a:p>
                      <a:pPr algn="ctr"/>
                      <a:r>
                        <a:rPr lang="en-US" dirty="0"/>
                        <a:t>‘r’</a:t>
                      </a:r>
                    </a:p>
                  </a:txBody>
                  <a:tcPr/>
                </a:tc>
                <a:tc>
                  <a:txBody>
                    <a:bodyPr/>
                    <a:lstStyle/>
                    <a:p>
                      <a:pPr algn="ctr"/>
                      <a:r>
                        <a:rPr lang="en-US" dirty="0"/>
                        <a:t>‘e’</a:t>
                      </a:r>
                    </a:p>
                  </a:txBody>
                  <a:tcPr/>
                </a:tc>
                <a:tc>
                  <a:txBody>
                    <a:bodyPr/>
                    <a:lstStyle/>
                    <a:p>
                      <a:pPr algn="ctr"/>
                      <a:r>
                        <a:rPr lang="en-US" dirty="0"/>
                        <a:t>‘e’</a:t>
                      </a:r>
                    </a:p>
                  </a:txBody>
                  <a:tcPr/>
                </a:tc>
                <a:tc>
                  <a:txBody>
                    <a:bodyPr/>
                    <a:lstStyle/>
                    <a:p>
                      <a:pPr algn="ctr"/>
                      <a:r>
                        <a:rPr lang="en-US" dirty="0"/>
                        <a:t>‘n’</a:t>
                      </a:r>
                    </a:p>
                  </a:txBody>
                  <a:tcPr/>
                </a:tc>
                <a:tc>
                  <a:txBody>
                    <a:bodyPr/>
                    <a:lstStyle/>
                    <a:p>
                      <a:pPr algn="ctr"/>
                      <a:r>
                        <a:rPr lang="en-US" dirty="0"/>
                        <a:t>‘\0’</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19065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p:txBody>
          <a:bodyPr>
            <a:normAutofit fontScale="90000"/>
          </a:bodyPr>
          <a:lstStyle/>
          <a:p>
            <a:r>
              <a:rPr lang="en-US" dirty="0"/>
              <a:t>String Declaration and Initialization</a:t>
            </a:r>
            <a:endParaRPr lang="en-US" sz="4400" dirty="0"/>
          </a:p>
        </p:txBody>
      </p:sp>
      <p:sp>
        <p:nvSpPr>
          <p:cNvPr id="19459" name="Rectangle 3"/>
          <p:cNvSpPr>
            <a:spLocks noGrp="1" noChangeArrowheads="1"/>
          </p:cNvSpPr>
          <p:nvPr>
            <p:ph idx="1"/>
          </p:nvPr>
        </p:nvSpPr>
        <p:spPr/>
        <p:txBody>
          <a:bodyPr/>
          <a:lstStyle/>
          <a:p>
            <a:pPr eaLnBrk="1" hangingPunct="1">
              <a:lnSpc>
                <a:spcPct val="90000"/>
              </a:lnSpc>
            </a:pPr>
            <a:r>
              <a:rPr lang="en-US" sz="2600"/>
              <a:t>Notice that even though there are only five characters in the word ‘green’, six characters are stored in the computer. The last character, the character ‘\0’, is the NULL character which indicates the end of the string.</a:t>
            </a:r>
          </a:p>
          <a:p>
            <a:pPr eaLnBrk="1" hangingPunct="1">
              <a:lnSpc>
                <a:spcPct val="90000"/>
              </a:lnSpc>
            </a:pPr>
            <a:r>
              <a:rPr lang="en-US" sz="2600"/>
              <a:t>Therefore, if an array of characters is to be used to store a string, the array must be large enough to store the string and its terminating NULL character.</a:t>
            </a:r>
          </a:p>
        </p:txBody>
      </p:sp>
    </p:spTree>
    <p:extLst>
      <p:ext uri="{BB962C8B-B14F-4D97-AF65-F5344CB8AC3E}">
        <p14:creationId xmlns:p14="http://schemas.microsoft.com/office/powerpoint/2010/main" val="3576696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fontScale="90000"/>
          </a:bodyPr>
          <a:lstStyle/>
          <a:p>
            <a:r>
              <a:rPr lang="en-US" dirty="0"/>
              <a:t>String Declaration and Initialization</a:t>
            </a:r>
            <a:endParaRPr lang="en-US" sz="4400" dirty="0"/>
          </a:p>
        </p:txBody>
      </p:sp>
      <p:sp>
        <p:nvSpPr>
          <p:cNvPr id="21507" name="Rectangle 3"/>
          <p:cNvSpPr>
            <a:spLocks noGrp="1" noChangeArrowheads="1"/>
          </p:cNvSpPr>
          <p:nvPr>
            <p:ph idx="1"/>
          </p:nvPr>
        </p:nvSpPr>
        <p:spPr/>
        <p:txBody>
          <a:bodyPr/>
          <a:lstStyle/>
          <a:p>
            <a:pPr eaLnBrk="1" hangingPunct="1"/>
            <a:r>
              <a:rPr lang="en-US" sz="2600" dirty="0"/>
              <a:t>If we happen to declare a string like this:</a:t>
            </a:r>
          </a:p>
          <a:p>
            <a:pPr lvl="2" eaLnBrk="1" hangingPunct="1">
              <a:buFont typeface="Wingdings" panose="05000000000000000000" pitchFamily="2" charset="2"/>
              <a:buNone/>
            </a:pPr>
            <a:r>
              <a:rPr lang="en-US" sz="2600" dirty="0"/>
              <a:t>char </a:t>
            </a:r>
            <a:r>
              <a:rPr lang="en-US" sz="2600" dirty="0" err="1"/>
              <a:t>my_drink</a:t>
            </a:r>
            <a:r>
              <a:rPr lang="en-US" sz="2600" dirty="0"/>
              <a:t>[3] = “tea”;</a:t>
            </a:r>
          </a:p>
          <a:p>
            <a:pPr lvl="2" eaLnBrk="1" hangingPunct="1">
              <a:buFont typeface="Wingdings" panose="05000000000000000000" pitchFamily="2" charset="2"/>
              <a:buNone/>
            </a:pPr>
            <a:endParaRPr lang="en-US" sz="2600" dirty="0"/>
          </a:p>
          <a:p>
            <a:pPr eaLnBrk="1" hangingPunct="1"/>
            <a:r>
              <a:rPr lang="en-US" sz="2600" dirty="0"/>
              <a:t>We will get the following syntax error:</a:t>
            </a:r>
          </a:p>
          <a:p>
            <a:pPr lvl="2" eaLnBrk="1" hangingPunct="1">
              <a:buFont typeface="Wingdings" panose="05000000000000000000" pitchFamily="2" charset="2"/>
              <a:buNone/>
            </a:pPr>
            <a:r>
              <a:rPr lang="en-US" sz="2600" dirty="0"/>
              <a:t>error C2117: 'tea' : array bounds overflow</a:t>
            </a:r>
          </a:p>
          <a:p>
            <a:pPr lvl="2" eaLnBrk="1" hangingPunct="1">
              <a:buFont typeface="Wingdings" panose="05000000000000000000" pitchFamily="2" charset="2"/>
              <a:buNone/>
            </a:pPr>
            <a:endParaRPr lang="en-US" sz="2600" dirty="0"/>
          </a:p>
          <a:p>
            <a:pPr eaLnBrk="1" hangingPunct="1"/>
            <a:r>
              <a:rPr lang="en-US" sz="2600" dirty="0"/>
              <a:t>Instead, we need to at least declare the array with (</a:t>
            </a:r>
            <a:r>
              <a:rPr lang="en-US" sz="2600" dirty="0">
                <a:solidFill>
                  <a:srgbClr val="C00000"/>
                </a:solidFill>
              </a:rPr>
              <a:t>the size of the string + 1</a:t>
            </a:r>
            <a:r>
              <a:rPr lang="en-US" sz="2600" dirty="0"/>
              <a:t>) to </a:t>
            </a:r>
            <a:r>
              <a:rPr lang="en-US" sz="2600" u="sng" dirty="0"/>
              <a:t>accommodate the null </a:t>
            </a:r>
            <a:r>
              <a:rPr lang="en-US" sz="2600" dirty="0"/>
              <a:t>terminating character </a:t>
            </a:r>
            <a:r>
              <a:rPr lang="en-US" sz="2600" dirty="0">
                <a:solidFill>
                  <a:srgbClr val="C00000"/>
                </a:solidFill>
              </a:rPr>
              <a:t>‘\0’</a:t>
            </a:r>
            <a:r>
              <a:rPr lang="en-US" sz="2600" dirty="0"/>
              <a:t>.</a:t>
            </a:r>
          </a:p>
          <a:p>
            <a:pPr lvl="2" eaLnBrk="1" hangingPunct="1">
              <a:buFont typeface="Wingdings" panose="05000000000000000000" pitchFamily="2" charset="2"/>
              <a:buNone/>
            </a:pPr>
            <a:r>
              <a:rPr lang="en-US" sz="2600" dirty="0"/>
              <a:t>char </a:t>
            </a:r>
            <a:r>
              <a:rPr lang="en-US" sz="2600" dirty="0" err="1"/>
              <a:t>my_drink</a:t>
            </a:r>
            <a:r>
              <a:rPr lang="en-US" sz="2600" dirty="0"/>
              <a:t>[4] = “tea”;</a:t>
            </a:r>
          </a:p>
        </p:txBody>
      </p:sp>
    </p:spTree>
    <p:extLst>
      <p:ext uri="{BB962C8B-B14F-4D97-AF65-F5344CB8AC3E}">
        <p14:creationId xmlns:p14="http://schemas.microsoft.com/office/powerpoint/2010/main" val="986722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5"/>
          <p:cNvSpPr>
            <a:spLocks noGrp="1" noChangeArrowheads="1"/>
          </p:cNvSpPr>
          <p:nvPr>
            <p:ph type="title"/>
          </p:nvPr>
        </p:nvSpPr>
        <p:spPr/>
        <p:txBody>
          <a:bodyPr>
            <a:normAutofit fontScale="90000"/>
          </a:bodyPr>
          <a:lstStyle/>
          <a:p>
            <a:r>
              <a:rPr lang="en-US" dirty="0"/>
              <a:t>String Declaration and Initialization</a:t>
            </a:r>
            <a:endParaRPr lang="en-US" sz="4400" dirty="0"/>
          </a:p>
        </p:txBody>
      </p:sp>
      <p:sp>
        <p:nvSpPr>
          <p:cNvPr id="20483" name="Rectangle 3"/>
          <p:cNvSpPr>
            <a:spLocks noGrp="1" noChangeArrowheads="1"/>
          </p:cNvSpPr>
          <p:nvPr>
            <p:ph idx="1"/>
          </p:nvPr>
        </p:nvSpPr>
        <p:spPr/>
        <p:txBody>
          <a:bodyPr/>
          <a:lstStyle/>
          <a:p>
            <a:pPr eaLnBrk="1" hangingPunct="1"/>
            <a:r>
              <a:rPr lang="en-US" sz="2800" dirty="0"/>
              <a:t>We can initialize string variables at compile time such as;</a:t>
            </a:r>
          </a:p>
          <a:p>
            <a:pPr lvl="1" eaLnBrk="1" hangingPunct="1"/>
            <a:r>
              <a:rPr lang="en-US" sz="2400" b="1" dirty="0">
                <a:latin typeface="Courier New" panose="02070309020205020404" pitchFamily="49" charset="0"/>
                <a:cs typeface="Courier New" panose="02070309020205020404" pitchFamily="49" charset="0"/>
              </a:rPr>
              <a:t>char name[10] = “</a:t>
            </a:r>
            <a:r>
              <a:rPr lang="en-US" sz="2400" b="1" dirty="0" err="1">
                <a:latin typeface="Courier New" panose="02070309020205020404" pitchFamily="49" charset="0"/>
                <a:cs typeface="Courier New" panose="02070309020205020404" pitchFamily="49" charset="0"/>
              </a:rPr>
              <a:t>Arris</a:t>
            </a:r>
            <a:r>
              <a:rPr lang="en-US" sz="2400" b="1" dirty="0">
                <a:latin typeface="Courier New" panose="02070309020205020404" pitchFamily="49" charset="0"/>
                <a:cs typeface="Courier New" panose="02070309020205020404" pitchFamily="49" charset="0"/>
              </a:rPr>
              <a:t>”;</a:t>
            </a:r>
          </a:p>
          <a:p>
            <a:pPr lvl="1" eaLnBrk="1" hangingPunct="1"/>
            <a:r>
              <a:rPr lang="en-US" sz="2400" dirty="0">
                <a:sym typeface="Wingdings" panose="05000000000000000000" pitchFamily="2" charset="2"/>
              </a:rPr>
              <a:t>This initialization creates the following spaces in storage :</a:t>
            </a:r>
          </a:p>
          <a:p>
            <a:pPr lvl="1" eaLnBrk="1" hangingPunct="1"/>
            <a:endParaRPr lang="en-US" sz="2400" dirty="0">
              <a:sym typeface="Wingdings" panose="05000000000000000000" pitchFamily="2" charset="2"/>
            </a:endParaRPr>
          </a:p>
          <a:p>
            <a:pPr lvl="1" eaLnBrk="1" hangingPunct="1"/>
            <a:endParaRPr lang="en-US" sz="2400" dirty="0">
              <a:sym typeface="Wingdings" panose="05000000000000000000" pitchFamily="2" charset="2"/>
            </a:endParaRPr>
          </a:p>
          <a:p>
            <a:pPr lvl="1" eaLnBrk="1" hangingPunct="1"/>
            <a:endParaRPr lang="en-US" sz="2400" dirty="0">
              <a:sym typeface="Wingdings" panose="05000000000000000000" pitchFamily="2" charset="2"/>
            </a:endParaRPr>
          </a:p>
        </p:txBody>
      </p:sp>
      <p:graphicFrame>
        <p:nvGraphicFramePr>
          <p:cNvPr id="2" name="Table 1"/>
          <p:cNvGraphicFramePr>
            <a:graphicFrameLocks noGrp="1"/>
          </p:cNvGraphicFramePr>
          <p:nvPr/>
        </p:nvGraphicFramePr>
        <p:xfrm>
          <a:off x="1191065" y="4576298"/>
          <a:ext cx="7242180" cy="741680"/>
        </p:xfrm>
        <a:graphic>
          <a:graphicData uri="http://schemas.openxmlformats.org/drawingml/2006/table">
            <a:tbl>
              <a:tblPr firstRow="1" bandRow="1">
                <a:tableStyleId>{5C22544A-7EE6-4342-B048-85BDC9FD1C3A}</a:tableStyleId>
              </a:tblPr>
              <a:tblGrid>
                <a:gridCol w="724218">
                  <a:extLst>
                    <a:ext uri="{9D8B030D-6E8A-4147-A177-3AD203B41FA5}">
                      <a16:colId xmlns:a16="http://schemas.microsoft.com/office/drawing/2014/main" val="20000"/>
                    </a:ext>
                  </a:extLst>
                </a:gridCol>
                <a:gridCol w="724218">
                  <a:extLst>
                    <a:ext uri="{9D8B030D-6E8A-4147-A177-3AD203B41FA5}">
                      <a16:colId xmlns:a16="http://schemas.microsoft.com/office/drawing/2014/main" val="20001"/>
                    </a:ext>
                  </a:extLst>
                </a:gridCol>
                <a:gridCol w="724218">
                  <a:extLst>
                    <a:ext uri="{9D8B030D-6E8A-4147-A177-3AD203B41FA5}">
                      <a16:colId xmlns:a16="http://schemas.microsoft.com/office/drawing/2014/main" val="20002"/>
                    </a:ext>
                  </a:extLst>
                </a:gridCol>
                <a:gridCol w="724218">
                  <a:extLst>
                    <a:ext uri="{9D8B030D-6E8A-4147-A177-3AD203B41FA5}">
                      <a16:colId xmlns:a16="http://schemas.microsoft.com/office/drawing/2014/main" val="20003"/>
                    </a:ext>
                  </a:extLst>
                </a:gridCol>
                <a:gridCol w="724218">
                  <a:extLst>
                    <a:ext uri="{9D8B030D-6E8A-4147-A177-3AD203B41FA5}">
                      <a16:colId xmlns:a16="http://schemas.microsoft.com/office/drawing/2014/main" val="20004"/>
                    </a:ext>
                  </a:extLst>
                </a:gridCol>
                <a:gridCol w="724218">
                  <a:extLst>
                    <a:ext uri="{9D8B030D-6E8A-4147-A177-3AD203B41FA5}">
                      <a16:colId xmlns:a16="http://schemas.microsoft.com/office/drawing/2014/main" val="20005"/>
                    </a:ext>
                  </a:extLst>
                </a:gridCol>
                <a:gridCol w="724218">
                  <a:extLst>
                    <a:ext uri="{9D8B030D-6E8A-4147-A177-3AD203B41FA5}">
                      <a16:colId xmlns:a16="http://schemas.microsoft.com/office/drawing/2014/main" val="20006"/>
                    </a:ext>
                  </a:extLst>
                </a:gridCol>
                <a:gridCol w="724218">
                  <a:extLst>
                    <a:ext uri="{9D8B030D-6E8A-4147-A177-3AD203B41FA5}">
                      <a16:colId xmlns:a16="http://schemas.microsoft.com/office/drawing/2014/main" val="20007"/>
                    </a:ext>
                  </a:extLst>
                </a:gridCol>
                <a:gridCol w="724218">
                  <a:extLst>
                    <a:ext uri="{9D8B030D-6E8A-4147-A177-3AD203B41FA5}">
                      <a16:colId xmlns:a16="http://schemas.microsoft.com/office/drawing/2014/main" val="20008"/>
                    </a:ext>
                  </a:extLst>
                </a:gridCol>
                <a:gridCol w="724218">
                  <a:extLst>
                    <a:ext uri="{9D8B030D-6E8A-4147-A177-3AD203B41FA5}">
                      <a16:colId xmlns:a16="http://schemas.microsoft.com/office/drawing/2014/main" val="20009"/>
                    </a:ext>
                  </a:extLst>
                </a:gridCol>
              </a:tblGrid>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5</a:t>
                      </a:r>
                    </a:p>
                  </a:txBody>
                  <a:tcPr/>
                </a:tc>
                <a:tc>
                  <a:txBody>
                    <a:bodyPr/>
                    <a:lstStyle/>
                    <a:p>
                      <a:pPr algn="ctr"/>
                      <a:r>
                        <a:rPr lang="en-US" dirty="0"/>
                        <a:t>6</a:t>
                      </a:r>
                    </a:p>
                  </a:txBody>
                  <a:tcPr/>
                </a:tc>
                <a:tc>
                  <a:txBody>
                    <a:bodyPr/>
                    <a:lstStyle/>
                    <a:p>
                      <a:pPr algn="ctr"/>
                      <a:r>
                        <a:rPr lang="en-US" dirty="0"/>
                        <a:t>7</a:t>
                      </a:r>
                    </a:p>
                  </a:txBody>
                  <a:tcPr/>
                </a:tc>
                <a:tc>
                  <a:txBody>
                    <a:bodyPr/>
                    <a:lstStyle/>
                    <a:p>
                      <a:pPr algn="ctr"/>
                      <a:r>
                        <a:rPr lang="en-US" dirty="0"/>
                        <a:t>8</a:t>
                      </a:r>
                    </a:p>
                  </a:txBody>
                  <a:tcPr/>
                </a:tc>
                <a:tc>
                  <a:txBody>
                    <a:bodyPr/>
                    <a:lstStyle/>
                    <a:p>
                      <a:pPr algn="ctr"/>
                      <a:r>
                        <a:rPr lang="en-US" dirty="0"/>
                        <a:t>9</a:t>
                      </a:r>
                    </a:p>
                  </a:txBody>
                  <a:tcPr/>
                </a:tc>
                <a:extLst>
                  <a:ext uri="{0D108BD9-81ED-4DB2-BD59-A6C34878D82A}">
                    <a16:rowId xmlns:a16="http://schemas.microsoft.com/office/drawing/2014/main" val="10000"/>
                  </a:ext>
                </a:extLst>
              </a:tr>
              <a:tr h="370840">
                <a:tc>
                  <a:txBody>
                    <a:bodyPr/>
                    <a:lstStyle/>
                    <a:p>
                      <a:pPr algn="ctr"/>
                      <a:r>
                        <a:rPr lang="en-US" dirty="0"/>
                        <a:t>‘A’</a:t>
                      </a:r>
                    </a:p>
                  </a:txBody>
                  <a:tcPr/>
                </a:tc>
                <a:tc>
                  <a:txBody>
                    <a:bodyPr/>
                    <a:lstStyle/>
                    <a:p>
                      <a:pPr algn="ctr"/>
                      <a:r>
                        <a:rPr lang="en-US" dirty="0"/>
                        <a:t>‘r’</a:t>
                      </a:r>
                    </a:p>
                  </a:txBody>
                  <a:tcPr/>
                </a:tc>
                <a:tc>
                  <a:txBody>
                    <a:bodyPr/>
                    <a:lstStyle/>
                    <a:p>
                      <a:pPr algn="ctr"/>
                      <a:r>
                        <a:rPr lang="en-US" dirty="0"/>
                        <a:t>‘r’</a:t>
                      </a:r>
                    </a:p>
                  </a:txBody>
                  <a:tcPr/>
                </a:tc>
                <a:tc>
                  <a:txBody>
                    <a:bodyPr/>
                    <a:lstStyle/>
                    <a:p>
                      <a:pPr algn="ctr"/>
                      <a:r>
                        <a:rPr lang="en-US" dirty="0"/>
                        <a:t>‘</a:t>
                      </a:r>
                      <a:r>
                        <a:rPr lang="en-US" dirty="0" err="1"/>
                        <a:t>i</a:t>
                      </a:r>
                      <a:r>
                        <a:rPr lang="en-US" dirty="0"/>
                        <a:t>’</a:t>
                      </a:r>
                    </a:p>
                  </a:txBody>
                  <a:tcPr/>
                </a:tc>
                <a:tc>
                  <a:txBody>
                    <a:bodyPr/>
                    <a:lstStyle/>
                    <a:p>
                      <a:pPr algn="ctr"/>
                      <a:r>
                        <a:rPr lang="en-US" dirty="0"/>
                        <a:t>‘s’</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0001"/>
                  </a:ext>
                </a:extLst>
              </a:tr>
            </a:tbl>
          </a:graphicData>
        </a:graphic>
      </p:graphicFrame>
      <p:sp>
        <p:nvSpPr>
          <p:cNvPr id="18" name="TextBox 17"/>
          <p:cNvSpPr txBox="1"/>
          <p:nvPr/>
        </p:nvSpPr>
        <p:spPr>
          <a:xfrm>
            <a:off x="347005" y="4702945"/>
            <a:ext cx="998806" cy="400110"/>
          </a:xfrm>
          <a:prstGeom prst="rect">
            <a:avLst/>
          </a:prstGeom>
          <a:noFill/>
        </p:spPr>
        <p:txBody>
          <a:bodyPr wrap="square" rtlCol="0">
            <a:spAutoFit/>
          </a:bodyPr>
          <a:lstStyle/>
          <a:p>
            <a:r>
              <a:rPr lang="en-US" sz="2000" dirty="0">
                <a:latin typeface="Courier New" panose="02070309020205020404" pitchFamily="49" charset="0"/>
                <a:cs typeface="Courier New" panose="02070309020205020404" pitchFamily="49" charset="0"/>
              </a:rPr>
              <a:t>name</a:t>
            </a:r>
          </a:p>
        </p:txBody>
      </p:sp>
    </p:spTree>
    <p:extLst>
      <p:ext uri="{BB962C8B-B14F-4D97-AF65-F5344CB8AC3E}">
        <p14:creationId xmlns:p14="http://schemas.microsoft.com/office/powerpoint/2010/main" val="4014508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pPr eaLnBrk="1" hangingPunct="1"/>
            <a:r>
              <a:rPr lang="en-US" dirty="0"/>
              <a:t>Example: String and </a:t>
            </a:r>
            <a:r>
              <a:rPr lang="en-US" dirty="0">
                <a:latin typeface="Courier New" panose="02070309020205020404" pitchFamily="49" charset="0"/>
                <a:cs typeface="Courier New" panose="02070309020205020404" pitchFamily="49" charset="0"/>
              </a:rPr>
              <a:t>‘\0’</a:t>
            </a:r>
          </a:p>
        </p:txBody>
      </p:sp>
      <p:sp>
        <p:nvSpPr>
          <p:cNvPr id="22531" name="Rectangle 3"/>
          <p:cNvSpPr>
            <a:spLocks noGrp="1" noChangeArrowheads="1"/>
          </p:cNvSpPr>
          <p:nvPr>
            <p:ph idx="1"/>
          </p:nvPr>
        </p:nvSpPr>
        <p:spPr/>
        <p:txBody>
          <a:bodyPr/>
          <a:lstStyle/>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#include &lt;</a:t>
            </a:r>
            <a:r>
              <a:rPr lang="en-US" sz="2000" dirty="0" err="1">
                <a:latin typeface="Courier New" panose="02070309020205020404" pitchFamily="49" charset="0"/>
                <a:cs typeface="Courier New" panose="02070309020205020404" pitchFamily="49" charset="0"/>
              </a:rPr>
              <a:t>stdio.h</a:t>
            </a:r>
            <a:r>
              <a:rPr lang="en-US" sz="2000" dirty="0">
                <a:latin typeface="Courier New" panose="02070309020205020404" pitchFamily="49" charset="0"/>
                <a:cs typeface="Courier New" panose="02070309020205020404" pitchFamily="49" charset="0"/>
              </a:rPr>
              <a:t>&gt;</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void main()</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	char sentence[] = "I love Bangladesh";</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count = 0;</a:t>
            </a:r>
          </a:p>
          <a:p>
            <a:pPr eaLnBrk="1" hangingPunct="1">
              <a:lnSpc>
                <a:spcPct val="70000"/>
              </a:lnSpc>
              <a:buFont typeface="Wingdings" panose="05000000000000000000" pitchFamily="2" charset="2"/>
              <a:buNone/>
            </a:pPr>
            <a:endParaRPr lang="en-US" sz="2000" dirty="0">
              <a:latin typeface="Courier New" panose="02070309020205020404" pitchFamily="49" charset="0"/>
              <a:cs typeface="Courier New" panose="02070309020205020404" pitchFamily="49" charset="0"/>
            </a:endParaRP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	for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0; sentence[</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'\0';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		{count++;}</a:t>
            </a:r>
          </a:p>
          <a:p>
            <a:pPr eaLnBrk="1" hangingPunct="1">
              <a:lnSpc>
                <a:spcPct val="70000"/>
              </a:lnSpc>
              <a:buFont typeface="Wingdings" panose="05000000000000000000" pitchFamily="2" charset="2"/>
              <a:buNone/>
            </a:pPr>
            <a:endParaRPr lang="en-US" sz="2000" dirty="0">
              <a:latin typeface="Courier New" panose="02070309020205020404" pitchFamily="49" charset="0"/>
              <a:cs typeface="Courier New" panose="02070309020205020404" pitchFamily="49" charset="0"/>
            </a:endParaRPr>
          </a:p>
          <a:p>
            <a:pPr>
              <a:lnSpc>
                <a:spcPct val="70000"/>
              </a:lnSpc>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("%s has %d characters including the whitespace", 	sentence, count);</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325626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r>
              <a:rPr lang="en-US" dirty="0"/>
              <a:t>Example: String and </a:t>
            </a:r>
            <a:r>
              <a:rPr lang="en-US" dirty="0">
                <a:latin typeface="Courier New" panose="02070309020205020404" pitchFamily="49" charset="0"/>
                <a:cs typeface="Courier New" panose="02070309020205020404" pitchFamily="49" charset="0"/>
              </a:rPr>
              <a:t>‘\0’</a:t>
            </a:r>
            <a:endParaRPr lang="en-US" dirty="0"/>
          </a:p>
        </p:txBody>
      </p:sp>
      <p:sp>
        <p:nvSpPr>
          <p:cNvPr id="22531" name="Rectangle 3"/>
          <p:cNvSpPr>
            <a:spLocks noGrp="1" noChangeArrowheads="1"/>
          </p:cNvSpPr>
          <p:nvPr>
            <p:ph idx="1"/>
          </p:nvPr>
        </p:nvSpPr>
        <p:spPr/>
        <p:txBody>
          <a:bodyPr/>
          <a:lstStyle/>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#include &lt;</a:t>
            </a:r>
            <a:r>
              <a:rPr lang="en-US" sz="2000" dirty="0" err="1">
                <a:latin typeface="Courier New" panose="02070309020205020404" pitchFamily="49" charset="0"/>
                <a:cs typeface="Courier New" panose="02070309020205020404" pitchFamily="49" charset="0"/>
              </a:rPr>
              <a:t>stdio.h</a:t>
            </a:r>
            <a:r>
              <a:rPr lang="en-US" sz="2000" dirty="0">
                <a:latin typeface="Courier New" panose="02070309020205020404" pitchFamily="49" charset="0"/>
                <a:cs typeface="Courier New" panose="02070309020205020404" pitchFamily="49" charset="0"/>
              </a:rPr>
              <a:t>&gt;</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void main()</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	char sentence[] = "I love Bangladesh";</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count = 0;</a:t>
            </a:r>
          </a:p>
          <a:p>
            <a:pPr eaLnBrk="1" hangingPunct="1">
              <a:lnSpc>
                <a:spcPct val="70000"/>
              </a:lnSpc>
              <a:buFont typeface="Wingdings" panose="05000000000000000000" pitchFamily="2" charset="2"/>
              <a:buNone/>
            </a:pPr>
            <a:endParaRPr lang="en-US" sz="2000" dirty="0">
              <a:latin typeface="Courier New" panose="02070309020205020404" pitchFamily="49" charset="0"/>
              <a:cs typeface="Courier New" panose="02070309020205020404" pitchFamily="49" charset="0"/>
            </a:endParaRP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	for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0; sentence[</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'\0';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		count++;</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(“%s has %d characters including the whitespace", 	sentence, count);</a:t>
            </a:r>
          </a:p>
          <a:p>
            <a:pPr eaLnBrk="1" hangingPunct="1">
              <a:lnSpc>
                <a:spcPct val="70000"/>
              </a:lnSpc>
              <a:buFont typeface="Wingdings" panose="05000000000000000000" pitchFamily="2" charset="2"/>
              <a:buNone/>
            </a:pPr>
            <a:r>
              <a:rPr lang="en-US" sz="2000" dirty="0">
                <a:latin typeface="Courier New" panose="02070309020205020404" pitchFamily="49" charset="0"/>
                <a:cs typeface="Courier New" panose="02070309020205020404" pitchFamily="49" charset="0"/>
              </a:rPr>
              <a:t>}</a:t>
            </a:r>
          </a:p>
        </p:txBody>
      </p:sp>
      <p:sp>
        <p:nvSpPr>
          <p:cNvPr id="22533" name="Text Box 4"/>
          <p:cNvSpPr txBox="1">
            <a:spLocks noChangeArrowheads="1"/>
          </p:cNvSpPr>
          <p:nvPr/>
        </p:nvSpPr>
        <p:spPr bwMode="auto">
          <a:xfrm>
            <a:off x="1440425" y="5523961"/>
            <a:ext cx="7325750" cy="861774"/>
          </a:xfrm>
          <a:prstGeom prst="rect">
            <a:avLst/>
          </a:prstGeom>
          <a:solidFill>
            <a:schemeClr val="accent1"/>
          </a:solidFill>
          <a:ln w="12700" cap="sq">
            <a:solidFill>
              <a:schemeClr val="accent1"/>
            </a:solidFill>
            <a:miter lim="800000"/>
            <a:headEnd type="none" w="sm" len="sm"/>
            <a:tailEnd type="none" w="sm" len="sm"/>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sz="2000" b="1" dirty="0"/>
              <a:t>Sample output:</a:t>
            </a:r>
          </a:p>
          <a:p>
            <a:pPr>
              <a:spcBef>
                <a:spcPct val="50000"/>
              </a:spcBef>
            </a:pPr>
            <a:r>
              <a:rPr lang="en-US" sz="2000" dirty="0"/>
              <a:t>I love Bangladesh has 17 characters including the whitespace</a:t>
            </a:r>
          </a:p>
        </p:txBody>
      </p:sp>
    </p:spTree>
    <p:extLst>
      <p:ext uri="{BB962C8B-B14F-4D97-AF65-F5344CB8AC3E}">
        <p14:creationId xmlns:p14="http://schemas.microsoft.com/office/powerpoint/2010/main" val="901164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5"/>
          <p:cNvSpPr>
            <a:spLocks noGrp="1" noChangeArrowheads="1"/>
          </p:cNvSpPr>
          <p:nvPr>
            <p:ph type="title"/>
          </p:nvPr>
        </p:nvSpPr>
        <p:spPr/>
        <p:txBody>
          <a:bodyPr>
            <a:normAutofit fontScale="90000"/>
          </a:bodyPr>
          <a:lstStyle/>
          <a:p>
            <a:pPr eaLnBrk="1" hangingPunct="1"/>
            <a:r>
              <a:rPr lang="en-US" sz="4400" dirty="0"/>
              <a:t>String </a:t>
            </a:r>
            <a:r>
              <a:rPr lang="en-US" sz="4400" dirty="0" err="1"/>
              <a:t>Input/Output</a:t>
            </a:r>
            <a:r>
              <a:rPr lang="en-US" sz="4400" dirty="0"/>
              <a:t> Functions</a:t>
            </a:r>
          </a:p>
        </p:txBody>
      </p:sp>
      <p:sp>
        <p:nvSpPr>
          <p:cNvPr id="23555" name="Rectangle 3"/>
          <p:cNvSpPr>
            <a:spLocks noGrp="1" noChangeArrowheads="1"/>
          </p:cNvSpPr>
          <p:nvPr>
            <p:ph idx="1"/>
          </p:nvPr>
        </p:nvSpPr>
        <p:spPr/>
        <p:txBody>
          <a:bodyPr/>
          <a:lstStyle/>
          <a:p>
            <a:pPr eaLnBrk="1" hangingPunct="1">
              <a:lnSpc>
                <a:spcPct val="90000"/>
              </a:lnSpc>
            </a:pPr>
            <a:r>
              <a:rPr lang="en-US" sz="2400" dirty="0"/>
              <a:t>Standard Functions Input</a:t>
            </a:r>
          </a:p>
          <a:p>
            <a:pPr lvl="1" eaLnBrk="1" hangingPunct="1"/>
            <a:r>
              <a:rPr lang="en-US" sz="2200" dirty="0" err="1"/>
              <a:t>scanf</a:t>
            </a:r>
            <a:r>
              <a:rPr lang="en-US" sz="2200" dirty="0"/>
              <a:t>( )</a:t>
            </a:r>
          </a:p>
          <a:p>
            <a:pPr lvl="1" eaLnBrk="1" hangingPunct="1"/>
            <a:r>
              <a:rPr lang="en-US" sz="2200" dirty="0"/>
              <a:t>gets( )</a:t>
            </a:r>
          </a:p>
          <a:p>
            <a:pPr eaLnBrk="1" hangingPunct="1">
              <a:lnSpc>
                <a:spcPct val="90000"/>
              </a:lnSpc>
            </a:pPr>
            <a:r>
              <a:rPr lang="en-US" sz="2400" dirty="0"/>
              <a:t>Standard Functions Output</a:t>
            </a:r>
          </a:p>
          <a:p>
            <a:pPr lvl="1" eaLnBrk="1" hangingPunct="1"/>
            <a:r>
              <a:rPr lang="en-US" sz="2200" dirty="0" err="1"/>
              <a:t>printf</a:t>
            </a:r>
            <a:r>
              <a:rPr lang="en-US" sz="2200" dirty="0"/>
              <a:t>( )</a:t>
            </a:r>
          </a:p>
          <a:p>
            <a:pPr lvl="1" eaLnBrk="1" hangingPunct="1"/>
            <a:r>
              <a:rPr lang="en-US" sz="2200" dirty="0"/>
              <a:t>puts( )</a:t>
            </a:r>
          </a:p>
          <a:p>
            <a:pPr eaLnBrk="1" hangingPunct="1">
              <a:lnSpc>
                <a:spcPct val="90000"/>
              </a:lnSpc>
            </a:pPr>
            <a:r>
              <a:rPr lang="en-US" sz="2400" dirty="0">
                <a:sym typeface="Wingdings" panose="05000000000000000000" pitchFamily="2" charset="2"/>
              </a:rPr>
              <a:t>Use </a:t>
            </a:r>
            <a:r>
              <a:rPr lang="en-US" sz="2400" dirty="0" err="1">
                <a:solidFill>
                  <a:srgbClr val="FF0000"/>
                </a:solidFill>
                <a:sym typeface="Wingdings" panose="05000000000000000000" pitchFamily="2" charset="2"/>
              </a:rPr>
              <a:t>scanf</a:t>
            </a:r>
            <a:r>
              <a:rPr lang="en-US" sz="2400" dirty="0">
                <a:sym typeface="Wingdings" panose="05000000000000000000" pitchFamily="2" charset="2"/>
              </a:rPr>
              <a:t> function together with the format </a:t>
            </a:r>
            <a:r>
              <a:rPr lang="en-US" sz="2400" dirty="0" err="1">
                <a:sym typeface="Wingdings" panose="05000000000000000000" pitchFamily="2" charset="2"/>
              </a:rPr>
              <a:t>specifier</a:t>
            </a:r>
            <a:r>
              <a:rPr lang="en-US" sz="2400" dirty="0">
                <a:sym typeface="Wingdings" panose="05000000000000000000" pitchFamily="2" charset="2"/>
              </a:rPr>
              <a:t> </a:t>
            </a:r>
            <a:r>
              <a:rPr lang="en-US" sz="2400" dirty="0">
                <a:solidFill>
                  <a:srgbClr val="FF0000"/>
                </a:solidFill>
                <a:sym typeface="Wingdings" panose="05000000000000000000" pitchFamily="2" charset="2"/>
              </a:rPr>
              <a:t>%s</a:t>
            </a:r>
            <a:r>
              <a:rPr lang="en-US" sz="2400" dirty="0">
                <a:sym typeface="Wingdings" panose="05000000000000000000" pitchFamily="2" charset="2"/>
              </a:rPr>
              <a:t> for interactive input string. (</a:t>
            </a:r>
            <a:r>
              <a:rPr lang="en-US" sz="2400" dirty="0">
                <a:solidFill>
                  <a:srgbClr val="FF0000"/>
                </a:solidFill>
                <a:sym typeface="Wingdings" panose="05000000000000000000" pitchFamily="2" charset="2"/>
              </a:rPr>
              <a:t>no whitespace</a:t>
            </a:r>
            <a:r>
              <a:rPr lang="en-US" sz="2400" dirty="0">
                <a:sym typeface="Wingdings" panose="05000000000000000000" pitchFamily="2" charset="2"/>
              </a:rPr>
              <a:t> character)</a:t>
            </a:r>
          </a:p>
          <a:p>
            <a:pPr eaLnBrk="1" hangingPunct="1">
              <a:lnSpc>
                <a:spcPct val="90000"/>
              </a:lnSpc>
            </a:pPr>
            <a:r>
              <a:rPr lang="en-US" sz="2400" dirty="0"/>
              <a:t>If the string to be read as an input has </a:t>
            </a:r>
            <a:r>
              <a:rPr lang="en-US" sz="2400" dirty="0">
                <a:solidFill>
                  <a:srgbClr val="C00000"/>
                </a:solidFill>
              </a:rPr>
              <a:t>embedded whitespace characters</a:t>
            </a:r>
            <a:r>
              <a:rPr lang="en-US" sz="2400" dirty="0"/>
              <a:t>, use standard </a:t>
            </a:r>
            <a:r>
              <a:rPr lang="en-US" sz="2400" i="1" dirty="0">
                <a:solidFill>
                  <a:srgbClr val="C00000"/>
                </a:solidFill>
              </a:rPr>
              <a:t>gets</a:t>
            </a:r>
            <a:r>
              <a:rPr lang="en-US" sz="2400" dirty="0"/>
              <a:t> function.</a:t>
            </a:r>
          </a:p>
          <a:p>
            <a:pPr eaLnBrk="1" hangingPunct="1"/>
            <a:endParaRPr lang="en-US" sz="2400" dirty="0"/>
          </a:p>
        </p:txBody>
      </p:sp>
    </p:spTree>
    <p:extLst>
      <p:ext uri="{BB962C8B-B14F-4D97-AF65-F5344CB8AC3E}">
        <p14:creationId xmlns:p14="http://schemas.microsoft.com/office/powerpoint/2010/main" val="101530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Grp="1" noChangeArrowheads="1"/>
          </p:cNvSpPr>
          <p:nvPr>
            <p:ph type="title"/>
          </p:nvPr>
        </p:nvSpPr>
        <p:spPr/>
        <p:txBody>
          <a:bodyPr>
            <a:normAutofit fontScale="90000"/>
          </a:bodyPr>
          <a:lstStyle/>
          <a:p>
            <a:pPr eaLnBrk="1" hangingPunct="1"/>
            <a:r>
              <a:rPr lang="en-US" sz="4400" dirty="0"/>
              <a:t>Example: </a:t>
            </a:r>
            <a:r>
              <a:rPr lang="en-US" sz="4400" b="1" dirty="0">
                <a:latin typeface="Courier New" panose="02070309020205020404" pitchFamily="49" charset="0"/>
                <a:cs typeface="Courier New" panose="02070309020205020404" pitchFamily="49" charset="0"/>
              </a:rPr>
              <a:t>gets</a:t>
            </a:r>
            <a:r>
              <a:rPr lang="en-US" sz="4400" dirty="0"/>
              <a:t>, </a:t>
            </a:r>
            <a:r>
              <a:rPr lang="en-US" sz="4400" b="1" dirty="0">
                <a:latin typeface="Courier New" panose="02070309020205020404" pitchFamily="49" charset="0"/>
                <a:cs typeface="Courier New" panose="02070309020205020404" pitchFamily="49" charset="0"/>
              </a:rPr>
              <a:t>puts</a:t>
            </a:r>
            <a:r>
              <a:rPr lang="en-US" dirty="0"/>
              <a:t>, </a:t>
            </a:r>
            <a:r>
              <a:rPr lang="en-US" sz="4400" b="1" dirty="0" err="1">
                <a:latin typeface="Courier New" panose="02070309020205020404" pitchFamily="49" charset="0"/>
                <a:cs typeface="Courier New" panose="02070309020205020404" pitchFamily="49" charset="0"/>
              </a:rPr>
              <a:t>scanf</a:t>
            </a:r>
            <a:r>
              <a:rPr lang="en-US" sz="4400" b="1" dirty="0">
                <a:latin typeface="Courier New" panose="02070309020205020404" pitchFamily="49" charset="0"/>
                <a:cs typeface="Courier New" panose="02070309020205020404" pitchFamily="49" charset="0"/>
              </a:rPr>
              <a:t> </a:t>
            </a:r>
            <a:r>
              <a:rPr lang="en-US" sz="4400" dirty="0"/>
              <a:t>and </a:t>
            </a:r>
            <a:r>
              <a:rPr lang="en-US" sz="4400" b="1" dirty="0" err="1">
                <a:latin typeface="Courier New" panose="02070309020205020404" pitchFamily="49" charset="0"/>
                <a:cs typeface="Courier New" panose="02070309020205020404" pitchFamily="49" charset="0"/>
              </a:rPr>
              <a:t>printf</a:t>
            </a:r>
            <a:endParaRPr lang="en-US" sz="4400" b="1" dirty="0">
              <a:latin typeface="Courier New" panose="02070309020205020404" pitchFamily="49" charset="0"/>
              <a:cs typeface="Courier New" panose="02070309020205020404" pitchFamily="49" charset="0"/>
            </a:endParaRPr>
          </a:p>
        </p:txBody>
      </p:sp>
      <p:sp>
        <p:nvSpPr>
          <p:cNvPr id="24579" name="Rectangle 1027"/>
          <p:cNvSpPr>
            <a:spLocks noGrp="1" noChangeArrowheads="1"/>
          </p:cNvSpPr>
          <p:nvPr>
            <p:ph idx="1"/>
          </p:nvPr>
        </p:nvSpPr>
        <p:spPr>
          <a:xfrm>
            <a:off x="155574" y="1499359"/>
            <a:ext cx="8797925" cy="5237163"/>
          </a:xfrm>
        </p:spPr>
        <p:txBody>
          <a:bodyPr>
            <a:normAutofit/>
          </a:bodyPr>
          <a:lstStyle/>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#include &lt;</a:t>
            </a:r>
            <a:r>
              <a:rPr lang="en-US" sz="2000" dirty="0" err="1">
                <a:latin typeface="Courier New" panose="02070309020205020404" pitchFamily="49" charset="0"/>
                <a:cs typeface="Courier New" panose="02070309020205020404" pitchFamily="49" charset="0"/>
              </a:rPr>
              <a:t>stdio.h</a:t>
            </a:r>
            <a:r>
              <a:rPr lang="en-US" sz="2000" dirty="0">
                <a:latin typeface="Courier New" panose="02070309020205020404" pitchFamily="49" charset="0"/>
                <a:cs typeface="Courier New" panose="02070309020205020404" pitchFamily="49" charset="0"/>
              </a:rPr>
              <a:t>&gt;</a:t>
            </a:r>
          </a:p>
          <a:p>
            <a:pPr eaLnBrk="1" hangingPunct="1">
              <a:lnSpc>
                <a:spcPct val="70000"/>
              </a:lnSpc>
              <a:spcBef>
                <a:spcPts val="0"/>
              </a:spcBef>
              <a:buFont typeface="Wingdings" panose="05000000000000000000" pitchFamily="2" charset="2"/>
              <a:buNone/>
            </a:pPr>
            <a:endParaRPr lang="en-US" sz="2000" dirty="0">
              <a:latin typeface="Courier New" panose="02070309020205020404" pitchFamily="49" charset="0"/>
              <a:cs typeface="Courier New" panose="02070309020205020404" pitchFamily="49" charset="0"/>
            </a:endParaRPr>
          </a:p>
          <a:p>
            <a:pPr eaLnBrk="1" hangingPunct="1">
              <a:lnSpc>
                <a:spcPct val="70000"/>
              </a:lnSpc>
              <a:spcBef>
                <a:spcPts val="0"/>
              </a:spcBef>
              <a:buFont typeface="Wingdings" panose="05000000000000000000" pitchFamily="2" charset="2"/>
              <a:buNone/>
            </a:pP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main()</a:t>
            </a:r>
          </a:p>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a:t>
            </a:r>
          </a:p>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char string1[50]; </a:t>
            </a:r>
          </a:p>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char string2[50]; </a:t>
            </a:r>
          </a:p>
          <a:p>
            <a:pPr eaLnBrk="1" hangingPunct="1">
              <a:lnSpc>
                <a:spcPct val="70000"/>
              </a:lnSpc>
              <a:spcBef>
                <a:spcPts val="0"/>
              </a:spcBef>
              <a:buFont typeface="Wingdings" panose="05000000000000000000" pitchFamily="2" charset="2"/>
              <a:buNone/>
            </a:pPr>
            <a:endParaRPr lang="en-US" sz="2000" dirty="0">
              <a:latin typeface="Courier New" panose="02070309020205020404" pitchFamily="49" charset="0"/>
              <a:cs typeface="Courier New" panose="02070309020205020404" pitchFamily="49" charset="0"/>
            </a:endParaRPr>
          </a:p>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("Enter a string less than 50 characters with 	spaces: \n"); </a:t>
            </a:r>
          </a:p>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gets(string1); </a:t>
            </a:r>
          </a:p>
          <a:p>
            <a:pPr eaLnBrk="1" hangingPunct="1">
              <a:lnSpc>
                <a:spcPct val="70000"/>
              </a:lnSpc>
              <a:spcBef>
                <a:spcPts val="0"/>
              </a:spcBef>
              <a:buFont typeface="Wingdings" panose="05000000000000000000" pitchFamily="2" charset="2"/>
              <a:buNone/>
            </a:pPr>
            <a:endParaRPr lang="en-US" sz="2000" dirty="0">
              <a:latin typeface="Courier New" panose="02070309020205020404" pitchFamily="49" charset="0"/>
              <a:cs typeface="Courier New" panose="02070309020205020404" pitchFamily="49" charset="0"/>
            </a:endParaRPr>
          </a:p>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nYou</a:t>
            </a:r>
            <a:r>
              <a:rPr lang="en-US" sz="2000" dirty="0">
                <a:latin typeface="Courier New" panose="02070309020205020404" pitchFamily="49" charset="0"/>
                <a:cs typeface="Courier New" panose="02070309020205020404" pitchFamily="49" charset="0"/>
              </a:rPr>
              <a:t> have entered: "); </a:t>
            </a:r>
          </a:p>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puts(string1); </a:t>
            </a:r>
          </a:p>
          <a:p>
            <a:pPr eaLnBrk="1" hangingPunct="1">
              <a:lnSpc>
                <a:spcPct val="70000"/>
              </a:lnSpc>
              <a:spcBef>
                <a:spcPts val="0"/>
              </a:spcBef>
              <a:buFont typeface="Wingdings" panose="05000000000000000000" pitchFamily="2" charset="2"/>
              <a:buNone/>
            </a:pPr>
            <a:endParaRPr lang="en-US" sz="2000" dirty="0">
              <a:latin typeface="Courier New" panose="02070309020205020404" pitchFamily="49" charset="0"/>
              <a:cs typeface="Courier New" panose="02070309020205020404" pitchFamily="49" charset="0"/>
            </a:endParaRPr>
          </a:p>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nTry</a:t>
            </a:r>
            <a:r>
              <a:rPr lang="en-US" sz="2000" dirty="0">
                <a:latin typeface="Courier New" panose="02070309020205020404" pitchFamily="49" charset="0"/>
                <a:cs typeface="Courier New" panose="02070309020205020404" pitchFamily="49" charset="0"/>
              </a:rPr>
              <a:t> entering a string less than 50 	characters, with spaces: \n"); </a:t>
            </a:r>
          </a:p>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solidFill>
                  <a:srgbClr val="C00000"/>
                </a:solidFill>
                <a:latin typeface="Courier New" panose="02070309020205020404" pitchFamily="49" charset="0"/>
                <a:cs typeface="Courier New" panose="02070309020205020404" pitchFamily="49" charset="0"/>
              </a:rPr>
              <a:t>scanf</a:t>
            </a:r>
            <a:r>
              <a:rPr lang="en-US" sz="2000" dirty="0">
                <a:solidFill>
                  <a:srgbClr val="C00000"/>
                </a:solidFill>
                <a:latin typeface="Courier New" panose="02070309020205020404" pitchFamily="49" charset="0"/>
                <a:cs typeface="Courier New" panose="02070309020205020404" pitchFamily="49" charset="0"/>
              </a:rPr>
              <a:t>("%s", string2); </a:t>
            </a:r>
          </a:p>
          <a:p>
            <a:pPr eaLnBrk="1" hangingPunct="1">
              <a:lnSpc>
                <a:spcPct val="70000"/>
              </a:lnSpc>
              <a:spcBef>
                <a:spcPts val="0"/>
              </a:spcBef>
              <a:buFont typeface="Wingdings" panose="05000000000000000000" pitchFamily="2" charset="2"/>
              <a:buNone/>
            </a:pPr>
            <a:endParaRPr lang="en-US" sz="2000" dirty="0">
              <a:latin typeface="Courier New" panose="02070309020205020404" pitchFamily="49" charset="0"/>
              <a:cs typeface="Courier New" panose="02070309020205020404" pitchFamily="49" charset="0"/>
            </a:endParaRPr>
          </a:p>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nYou</a:t>
            </a:r>
            <a:r>
              <a:rPr lang="en-US" sz="2000" dirty="0">
                <a:latin typeface="Courier New" panose="02070309020205020404" pitchFamily="49" charset="0"/>
                <a:cs typeface="Courier New" panose="02070309020205020404" pitchFamily="49" charset="0"/>
              </a:rPr>
              <a:t> have entered: %s\n", string2); </a:t>
            </a:r>
          </a:p>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return 0;</a:t>
            </a:r>
          </a:p>
          <a:p>
            <a:pPr eaLnBrk="1" hangingPunct="1">
              <a:lnSpc>
                <a:spcPct val="70000"/>
              </a:lnSpc>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55810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9"/>
          <p:cNvSpPr>
            <a:spLocks noGrp="1" noChangeArrowheads="1"/>
          </p:cNvSpPr>
          <p:nvPr>
            <p:ph type="title"/>
          </p:nvPr>
        </p:nvSpPr>
        <p:spPr/>
        <p:txBody>
          <a:bodyPr>
            <a:normAutofit fontScale="90000"/>
          </a:bodyPr>
          <a:lstStyle/>
          <a:p>
            <a:r>
              <a:rPr lang="en-US" dirty="0"/>
              <a:t>Example: </a:t>
            </a:r>
            <a:r>
              <a:rPr lang="en-US" b="1" dirty="0">
                <a:latin typeface="Courier New" panose="02070309020205020404" pitchFamily="49" charset="0"/>
                <a:cs typeface="Courier New" panose="02070309020205020404" pitchFamily="49" charset="0"/>
              </a:rPr>
              <a:t>gets</a:t>
            </a:r>
            <a:r>
              <a:rPr lang="en-US" dirty="0"/>
              <a:t>, </a:t>
            </a:r>
            <a:r>
              <a:rPr lang="en-US" b="1" dirty="0">
                <a:latin typeface="Courier New" panose="02070309020205020404" pitchFamily="49" charset="0"/>
                <a:cs typeface="Courier New" panose="02070309020205020404" pitchFamily="49" charset="0"/>
              </a:rPr>
              <a:t>puts</a:t>
            </a:r>
            <a:r>
              <a:rPr lang="en-US" dirty="0"/>
              <a:t>, </a:t>
            </a:r>
            <a:r>
              <a:rPr lang="en-US" b="1" dirty="0" err="1">
                <a:latin typeface="Courier New" panose="02070309020205020404" pitchFamily="49" charset="0"/>
                <a:cs typeface="Courier New" panose="02070309020205020404" pitchFamily="49" charset="0"/>
              </a:rPr>
              <a:t>scanf</a:t>
            </a:r>
            <a:r>
              <a:rPr lang="en-US" b="1" dirty="0">
                <a:latin typeface="Courier New" panose="02070309020205020404" pitchFamily="49" charset="0"/>
                <a:cs typeface="Courier New" panose="02070309020205020404" pitchFamily="49" charset="0"/>
              </a:rPr>
              <a:t> </a:t>
            </a:r>
            <a:r>
              <a:rPr lang="en-US" dirty="0"/>
              <a:t>and </a:t>
            </a:r>
            <a:r>
              <a:rPr lang="en-US" b="1" dirty="0" err="1">
                <a:latin typeface="Courier New" panose="02070309020205020404" pitchFamily="49" charset="0"/>
                <a:cs typeface="Courier New" panose="02070309020205020404" pitchFamily="49" charset="0"/>
              </a:rPr>
              <a:t>printf</a:t>
            </a:r>
            <a:endParaRPr lang="en-US" dirty="0"/>
          </a:p>
        </p:txBody>
      </p:sp>
      <p:sp>
        <p:nvSpPr>
          <p:cNvPr id="25603" name="Rectangle 1027"/>
          <p:cNvSpPr>
            <a:spLocks noGrp="1" noChangeArrowheads="1"/>
          </p:cNvSpPr>
          <p:nvPr>
            <p:ph idx="1"/>
          </p:nvPr>
        </p:nvSpPr>
        <p:spPr>
          <a:xfrm>
            <a:off x="155575" y="1376528"/>
            <a:ext cx="8797925" cy="5237163"/>
          </a:xfrm>
        </p:spPr>
        <p:txBody>
          <a:bodyPr/>
          <a:lstStyle/>
          <a:p>
            <a:pPr eaLnBrk="1" hangingPunct="1">
              <a:buFont typeface="Wingdings" panose="05000000000000000000" pitchFamily="2" charset="2"/>
              <a:buNone/>
            </a:pPr>
            <a:r>
              <a:rPr lang="en-US" sz="2000" b="1" dirty="0"/>
              <a:t>Sample output</a:t>
            </a:r>
          </a:p>
          <a:p>
            <a:pPr eaLnBrk="1" hangingPunct="1">
              <a:buFont typeface="Wingdings" panose="05000000000000000000" pitchFamily="2" charset="2"/>
              <a:buNone/>
            </a:pPr>
            <a:r>
              <a:rPr lang="en-US" sz="2000" dirty="0"/>
              <a:t>	Enter a string less than 50 characters with spaces: </a:t>
            </a:r>
            <a:br>
              <a:rPr lang="en-US" sz="2000" dirty="0"/>
            </a:br>
            <a:r>
              <a:rPr lang="en-US" sz="2000" dirty="0"/>
              <a:t>hello world </a:t>
            </a:r>
            <a:br>
              <a:rPr lang="en-US" sz="2000" dirty="0"/>
            </a:br>
            <a:br>
              <a:rPr lang="en-US" sz="2000" dirty="0"/>
            </a:br>
            <a:r>
              <a:rPr lang="en-US" sz="2000" dirty="0"/>
              <a:t>You have entered: hello world </a:t>
            </a:r>
            <a:br>
              <a:rPr lang="en-US" sz="2000" dirty="0"/>
            </a:br>
            <a:br>
              <a:rPr lang="en-US" sz="2000" dirty="0"/>
            </a:br>
            <a:r>
              <a:rPr lang="en-US" sz="2000" dirty="0"/>
              <a:t>Try entering a string less than 50 characters, with spaces: </a:t>
            </a:r>
            <a:br>
              <a:rPr lang="en-US" sz="2000" dirty="0"/>
            </a:br>
            <a:r>
              <a:rPr lang="en-US" sz="2000" dirty="0"/>
              <a:t>hello world </a:t>
            </a:r>
            <a:br>
              <a:rPr lang="en-US" sz="2000" dirty="0"/>
            </a:br>
            <a:br>
              <a:rPr lang="en-US" sz="2000" dirty="0"/>
            </a:br>
            <a:r>
              <a:rPr lang="en-US" sz="2000" dirty="0"/>
              <a:t>You have entered: hello </a:t>
            </a:r>
          </a:p>
        </p:txBody>
      </p:sp>
    </p:spTree>
    <p:extLst>
      <p:ext uri="{BB962C8B-B14F-4D97-AF65-F5344CB8AC3E}">
        <p14:creationId xmlns:p14="http://schemas.microsoft.com/office/powerpoint/2010/main" val="4035143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fontScale="90000"/>
          </a:bodyPr>
          <a:lstStyle/>
          <a:p>
            <a:pPr eaLnBrk="1" hangingPunct="1"/>
            <a:r>
              <a:rPr lang="en-US" sz="4400" dirty="0"/>
              <a:t>String Conversion Functions</a:t>
            </a:r>
          </a:p>
        </p:txBody>
      </p:sp>
      <p:sp>
        <p:nvSpPr>
          <p:cNvPr id="28675" name="Rectangle 3"/>
          <p:cNvSpPr>
            <a:spLocks noGrp="1" noChangeArrowheads="1"/>
          </p:cNvSpPr>
          <p:nvPr>
            <p:ph idx="1"/>
          </p:nvPr>
        </p:nvSpPr>
        <p:spPr/>
        <p:txBody>
          <a:bodyPr/>
          <a:lstStyle/>
          <a:p>
            <a:pPr eaLnBrk="1" hangingPunct="1"/>
            <a:r>
              <a:rPr lang="en-US" sz="2400" dirty="0"/>
              <a:t>These functions convert strings of digits to integer and floating-point values.</a:t>
            </a:r>
          </a:p>
          <a:p>
            <a:pPr eaLnBrk="1" hangingPunct="1"/>
            <a:r>
              <a:rPr lang="en-US" sz="2400" dirty="0"/>
              <a:t>To use these functions, the general utilities library </a:t>
            </a:r>
            <a:r>
              <a:rPr lang="en-US" sz="2400" b="1" dirty="0">
                <a:latin typeface="Courier New" panose="02070309020205020404" pitchFamily="49" charset="0"/>
                <a:cs typeface="Courier New" panose="02070309020205020404" pitchFamily="49" charset="0"/>
              </a:rPr>
              <a:t>&lt;</a:t>
            </a:r>
            <a:r>
              <a:rPr lang="en-US" sz="2400" b="1" dirty="0" err="1">
                <a:latin typeface="Courier New" panose="02070309020205020404" pitchFamily="49" charset="0"/>
                <a:cs typeface="Courier New" panose="02070309020205020404" pitchFamily="49" charset="0"/>
              </a:rPr>
              <a:t>stdlib.h</a:t>
            </a:r>
            <a:r>
              <a:rPr lang="en-US" sz="2400" b="1" dirty="0">
                <a:latin typeface="Courier New" panose="02070309020205020404" pitchFamily="49" charset="0"/>
                <a:cs typeface="Courier New" panose="02070309020205020404" pitchFamily="49" charset="0"/>
              </a:rPr>
              <a:t>&gt;</a:t>
            </a:r>
            <a:r>
              <a:rPr lang="en-US" sz="2400" dirty="0"/>
              <a:t>, needs to be included.</a:t>
            </a:r>
          </a:p>
          <a:p>
            <a:pPr eaLnBrk="1" hangingPunct="1"/>
            <a:r>
              <a:rPr lang="en-US" sz="2400" dirty="0"/>
              <a:t>Example:</a:t>
            </a:r>
          </a:p>
          <a:p>
            <a:pPr lvl="1" eaLnBrk="1" hangingPunct="1"/>
            <a:r>
              <a:rPr lang="en-US" sz="2200" b="1" dirty="0" err="1">
                <a:solidFill>
                  <a:srgbClr val="15151D"/>
                </a:solidFill>
              </a:rPr>
              <a:t>atoi</a:t>
            </a:r>
            <a:r>
              <a:rPr lang="en-US" sz="2200" dirty="0">
                <a:solidFill>
                  <a:srgbClr val="15151D"/>
                </a:solidFill>
              </a:rPr>
              <a:t>: string to </a:t>
            </a:r>
            <a:r>
              <a:rPr lang="en-US" sz="2200" dirty="0" err="1">
                <a:solidFill>
                  <a:srgbClr val="15151D"/>
                </a:solidFill>
              </a:rPr>
              <a:t>int</a:t>
            </a:r>
            <a:endParaRPr lang="en-US" sz="2200" dirty="0">
              <a:solidFill>
                <a:srgbClr val="15151D"/>
              </a:solidFill>
            </a:endParaRPr>
          </a:p>
          <a:p>
            <a:pPr lvl="1" eaLnBrk="1" hangingPunct="1"/>
            <a:r>
              <a:rPr lang="en-US" sz="2200" b="1" dirty="0" err="1">
                <a:solidFill>
                  <a:srgbClr val="15151D"/>
                </a:solidFill>
              </a:rPr>
              <a:t>atof</a:t>
            </a:r>
            <a:r>
              <a:rPr lang="en-US" sz="2200" dirty="0">
                <a:solidFill>
                  <a:srgbClr val="15151D"/>
                </a:solidFill>
              </a:rPr>
              <a:t>: string to double</a:t>
            </a:r>
          </a:p>
        </p:txBody>
      </p:sp>
    </p:spTree>
    <p:extLst>
      <p:ext uri="{BB962C8B-B14F-4D97-AF65-F5344CB8AC3E}">
        <p14:creationId xmlns:p14="http://schemas.microsoft.com/office/powerpoint/2010/main" val="292011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fontScale="90000"/>
          </a:bodyPr>
          <a:lstStyle/>
          <a:p>
            <a:pPr eaLnBrk="1" hangingPunct="1"/>
            <a:r>
              <a:rPr lang="en-US" sz="4400" dirty="0"/>
              <a:t>Example: </a:t>
            </a:r>
            <a:r>
              <a:rPr lang="en-US" sz="3100" b="1" dirty="0" err="1">
                <a:solidFill>
                  <a:srgbClr val="FF0000"/>
                </a:solidFill>
              </a:rPr>
              <a:t>atoi</a:t>
            </a:r>
            <a:r>
              <a:rPr lang="en-US" sz="3100" b="1" dirty="0">
                <a:solidFill>
                  <a:srgbClr val="FF0000"/>
                </a:solidFill>
              </a:rPr>
              <a:t>()  </a:t>
            </a:r>
            <a:r>
              <a:rPr lang="en-US" sz="3100" dirty="0"/>
              <a:t>and</a:t>
            </a:r>
            <a:r>
              <a:rPr lang="en-US" sz="3100" b="1" dirty="0">
                <a:solidFill>
                  <a:srgbClr val="FF0000"/>
                </a:solidFill>
              </a:rPr>
              <a:t> </a:t>
            </a:r>
            <a:r>
              <a:rPr lang="en-US" sz="3100" b="1" dirty="0" err="1">
                <a:solidFill>
                  <a:srgbClr val="FF0000"/>
                </a:solidFill>
              </a:rPr>
              <a:t>atof</a:t>
            </a:r>
            <a:r>
              <a:rPr lang="en-US" sz="3100" b="1" dirty="0">
                <a:solidFill>
                  <a:srgbClr val="FF0000"/>
                </a:solidFill>
              </a:rPr>
              <a:t>()</a:t>
            </a:r>
            <a:endParaRPr lang="en-US" sz="4400" b="1" dirty="0">
              <a:solidFill>
                <a:srgbClr val="FF0000"/>
              </a:solidFill>
            </a:endParaRPr>
          </a:p>
        </p:txBody>
      </p:sp>
      <p:sp>
        <p:nvSpPr>
          <p:cNvPr id="30723" name="Rectangle 3"/>
          <p:cNvSpPr>
            <a:spLocks noGrp="1" noChangeArrowheads="1"/>
          </p:cNvSpPr>
          <p:nvPr>
            <p:ph idx="1"/>
          </p:nvPr>
        </p:nvSpPr>
        <p:spPr>
          <a:xfrm>
            <a:off x="155575" y="856670"/>
            <a:ext cx="8797925" cy="5237163"/>
          </a:xfrm>
        </p:spPr>
        <p:txBody>
          <a:bodyPr>
            <a:noAutofit/>
          </a:bodyPr>
          <a:lstStyle/>
          <a:p>
            <a:pPr eaLnBrk="1" hangingPunct="1">
              <a:spcBef>
                <a:spcPts val="0"/>
              </a:spcBef>
              <a:buFont typeface="Wingdings" panose="05000000000000000000" pitchFamily="2" charset="2"/>
              <a:buNone/>
            </a:pPr>
            <a:r>
              <a:rPr lang="en-US" sz="2000" i="1" dirty="0">
                <a:solidFill>
                  <a:schemeClr val="accent5"/>
                </a:solidFill>
                <a:latin typeface="Courier New" panose="02070309020205020404" pitchFamily="49" charset="0"/>
                <a:cs typeface="Courier New" panose="02070309020205020404" pitchFamily="49" charset="0"/>
              </a:rPr>
              <a:t>/*1.  Converting a String Into an </a:t>
            </a:r>
            <a:r>
              <a:rPr lang="en-US" sz="2000" i="1" dirty="0" err="1">
                <a:solidFill>
                  <a:schemeClr val="accent5"/>
                </a:solidFill>
                <a:latin typeface="Courier New" panose="02070309020205020404" pitchFamily="49" charset="0"/>
                <a:cs typeface="Courier New" panose="02070309020205020404" pitchFamily="49" charset="0"/>
              </a:rPr>
              <a:t>int</a:t>
            </a:r>
            <a:r>
              <a:rPr lang="en-US" sz="2000" i="1" dirty="0">
                <a:solidFill>
                  <a:schemeClr val="accent5"/>
                </a:solidFill>
                <a:latin typeface="Courier New" panose="02070309020205020404" pitchFamily="49" charset="0"/>
                <a:cs typeface="Courier New" panose="02070309020205020404" pitchFamily="49" charset="0"/>
              </a:rPr>
              <a:t> and float */</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#include &lt;</a:t>
            </a:r>
            <a:r>
              <a:rPr lang="en-US" sz="2000" dirty="0" err="1">
                <a:latin typeface="Courier New" panose="02070309020205020404" pitchFamily="49" charset="0"/>
                <a:cs typeface="Courier New" panose="02070309020205020404" pitchFamily="49" charset="0"/>
              </a:rPr>
              <a:t>stdio.h</a:t>
            </a:r>
            <a:r>
              <a:rPr lang="en-US" sz="2000" dirty="0">
                <a:latin typeface="Courier New" panose="02070309020205020404" pitchFamily="49" charset="0"/>
                <a:cs typeface="Courier New" panose="02070309020205020404" pitchFamily="49" charset="0"/>
              </a:rPr>
              <a:t>&gt;</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#include &lt;</a:t>
            </a:r>
            <a:r>
              <a:rPr lang="en-US" sz="2000" dirty="0" err="1">
                <a:latin typeface="Courier New" panose="02070309020205020404" pitchFamily="49" charset="0"/>
                <a:cs typeface="Courier New" panose="02070309020205020404" pitchFamily="49" charset="0"/>
              </a:rPr>
              <a:t>stdlib.h</a:t>
            </a:r>
            <a:r>
              <a:rPr lang="en-US" sz="2000" dirty="0">
                <a:latin typeface="Courier New" panose="02070309020205020404" pitchFamily="49" charset="0"/>
                <a:cs typeface="Courier New" panose="02070309020205020404" pitchFamily="49" charset="0"/>
              </a:rPr>
              <a:t>&gt;</a:t>
            </a:r>
          </a:p>
          <a:p>
            <a:pPr eaLnBrk="1" hangingPunct="1">
              <a:spcBef>
                <a:spcPts val="0"/>
              </a:spcBef>
              <a:buFont typeface="Wingdings" panose="05000000000000000000" pitchFamily="2" charset="2"/>
              <a:buNone/>
            </a:pP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main()</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char str1[ ] = "124z3yu87";</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char str2[ ] = "-3.4";</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char str3[ ] = "e24";</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int i1 = </a:t>
            </a:r>
            <a:r>
              <a:rPr lang="en-US" sz="2000" dirty="0" err="1">
                <a:latin typeface="Courier New" panose="02070309020205020404" pitchFamily="49" charset="0"/>
                <a:cs typeface="Courier New" panose="02070309020205020404" pitchFamily="49" charset="0"/>
              </a:rPr>
              <a:t>atoi</a:t>
            </a:r>
            <a:r>
              <a:rPr lang="en-US" sz="2000" dirty="0">
                <a:latin typeface="Courier New" panose="02070309020205020404" pitchFamily="49" charset="0"/>
                <a:cs typeface="Courier New" panose="02070309020205020404" pitchFamily="49" charset="0"/>
              </a:rPr>
              <a:t>(str1), i2 = </a:t>
            </a:r>
            <a:r>
              <a:rPr lang="en-US" sz="2000" dirty="0" err="1">
                <a:latin typeface="Courier New" panose="02070309020205020404" pitchFamily="49" charset="0"/>
                <a:cs typeface="Courier New" panose="02070309020205020404" pitchFamily="49" charset="0"/>
              </a:rPr>
              <a:t>atoi</a:t>
            </a:r>
            <a:r>
              <a:rPr lang="en-US" sz="2000" dirty="0">
                <a:latin typeface="Courier New" panose="02070309020205020404" pitchFamily="49" charset="0"/>
                <a:cs typeface="Courier New" panose="02070309020205020404" pitchFamily="49" charset="0"/>
              </a:rPr>
              <a:t>(str2), //3 </a:t>
            </a:r>
            <a:r>
              <a:rPr lang="en-US" sz="2000" dirty="0" err="1">
                <a:latin typeface="Courier New" panose="02070309020205020404" pitchFamily="49" charset="0"/>
                <a:cs typeface="Courier New" panose="02070309020205020404" pitchFamily="49" charset="0"/>
              </a:rPr>
              <a:t>pele</a:t>
            </a:r>
            <a:r>
              <a:rPr lang="en-US" sz="2000" dirty="0">
                <a:latin typeface="Courier New" panose="02070309020205020404" pitchFamily="49" charset="0"/>
                <a:cs typeface="Courier New" panose="02070309020205020404" pitchFamily="49" charset="0"/>
              </a:rPr>
              <a:t> stop</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i3 = </a:t>
            </a:r>
            <a:r>
              <a:rPr lang="en-US" sz="2000" dirty="0" err="1">
                <a:latin typeface="Courier New" panose="02070309020205020404" pitchFamily="49" charset="0"/>
                <a:cs typeface="Courier New" panose="02070309020205020404" pitchFamily="49" charset="0"/>
              </a:rPr>
              <a:t>atoi</a:t>
            </a:r>
            <a:r>
              <a:rPr lang="en-US" sz="2000" dirty="0">
                <a:latin typeface="Courier New" panose="02070309020205020404" pitchFamily="49" charset="0"/>
                <a:cs typeface="Courier New" panose="02070309020205020404" pitchFamily="49" charset="0"/>
              </a:rPr>
              <a:t>(str3);</a:t>
            </a:r>
          </a:p>
          <a:p>
            <a:pPr>
              <a:spcBef>
                <a:spcPts val="0"/>
              </a:spcBef>
              <a:buNone/>
            </a:pPr>
            <a:r>
              <a:rPr lang="en-US" sz="2000" dirty="0">
                <a:latin typeface="Courier New" panose="02070309020205020404" pitchFamily="49" charset="0"/>
                <a:cs typeface="Courier New" panose="02070309020205020404" pitchFamily="49" charset="0"/>
              </a:rPr>
              <a:t>	  float f2 = </a:t>
            </a:r>
            <a:r>
              <a:rPr lang="en-US" sz="2000" dirty="0" err="1">
                <a:latin typeface="Courier New" panose="02070309020205020404" pitchFamily="49" charset="0"/>
                <a:cs typeface="Courier New" panose="02070309020205020404" pitchFamily="49" charset="0"/>
              </a:rPr>
              <a:t>atof</a:t>
            </a:r>
            <a:r>
              <a:rPr lang="en-US" sz="2000" dirty="0">
                <a:latin typeface="Courier New" panose="02070309020205020404" pitchFamily="49" charset="0"/>
                <a:cs typeface="Courier New" panose="02070309020205020404" pitchFamily="49" charset="0"/>
              </a:rPr>
              <a:t>(str2);</a:t>
            </a:r>
          </a:p>
          <a:p>
            <a:pPr eaLnBrk="1" hangingPunct="1">
              <a:spcBef>
                <a:spcPts val="0"/>
              </a:spcBef>
              <a:buFont typeface="Wingdings" panose="05000000000000000000" pitchFamily="2" charset="2"/>
              <a:buNone/>
            </a:pPr>
            <a:endParaRPr lang="en-US" sz="2000" dirty="0">
              <a:latin typeface="Courier New" panose="02070309020205020404" pitchFamily="49" charset="0"/>
              <a:cs typeface="Courier New" panose="02070309020205020404" pitchFamily="49" charset="0"/>
            </a:endParaRP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("i1: %d\n", i1);   </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("i2: %d\n", i2);</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("i3: %d\n", i3);</a:t>
            </a:r>
          </a:p>
          <a:p>
            <a:pPr>
              <a:spcBef>
                <a:spcPts val="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("f2: %f\n", f2);</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return 0;</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374851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fontScale="90000"/>
          </a:bodyPr>
          <a:lstStyle/>
          <a:p>
            <a:pPr eaLnBrk="1" hangingPunct="1"/>
            <a:r>
              <a:rPr lang="en-US" sz="4400" dirty="0"/>
              <a:t>Example: </a:t>
            </a:r>
            <a:r>
              <a:rPr lang="en-US" sz="3100" b="1" dirty="0" err="1">
                <a:solidFill>
                  <a:srgbClr val="FF0000"/>
                </a:solidFill>
              </a:rPr>
              <a:t>atoi</a:t>
            </a:r>
            <a:r>
              <a:rPr lang="en-US" sz="3100" b="1" dirty="0">
                <a:solidFill>
                  <a:srgbClr val="FF0000"/>
                </a:solidFill>
              </a:rPr>
              <a:t>()  </a:t>
            </a:r>
            <a:r>
              <a:rPr lang="en-US" sz="3100" dirty="0"/>
              <a:t>and</a:t>
            </a:r>
            <a:r>
              <a:rPr lang="en-US" sz="3100" b="1" dirty="0">
                <a:solidFill>
                  <a:srgbClr val="FF0000"/>
                </a:solidFill>
              </a:rPr>
              <a:t> </a:t>
            </a:r>
            <a:r>
              <a:rPr lang="en-US" sz="3100" b="1" dirty="0" err="1">
                <a:solidFill>
                  <a:srgbClr val="FF0000"/>
                </a:solidFill>
              </a:rPr>
              <a:t>atof</a:t>
            </a:r>
            <a:r>
              <a:rPr lang="en-US" sz="3100" b="1" dirty="0">
                <a:solidFill>
                  <a:srgbClr val="FF0000"/>
                </a:solidFill>
              </a:rPr>
              <a:t>()</a:t>
            </a:r>
            <a:endParaRPr lang="en-US" sz="4400" b="1" dirty="0">
              <a:solidFill>
                <a:srgbClr val="FF0000"/>
              </a:solidFill>
            </a:endParaRPr>
          </a:p>
        </p:txBody>
      </p:sp>
      <p:sp>
        <p:nvSpPr>
          <p:cNvPr id="30723" name="Rectangle 3"/>
          <p:cNvSpPr>
            <a:spLocks noGrp="1" noChangeArrowheads="1"/>
          </p:cNvSpPr>
          <p:nvPr>
            <p:ph idx="1"/>
          </p:nvPr>
        </p:nvSpPr>
        <p:spPr>
          <a:xfrm>
            <a:off x="155575" y="856670"/>
            <a:ext cx="8797925" cy="5237163"/>
          </a:xfrm>
        </p:spPr>
        <p:txBody>
          <a:bodyPr>
            <a:noAutofit/>
          </a:bodyPr>
          <a:lstStyle/>
          <a:p>
            <a:pPr eaLnBrk="1" hangingPunct="1">
              <a:spcBef>
                <a:spcPts val="0"/>
              </a:spcBef>
              <a:buFont typeface="Wingdings" panose="05000000000000000000" pitchFamily="2" charset="2"/>
              <a:buNone/>
            </a:pPr>
            <a:r>
              <a:rPr lang="en-US" sz="2000" i="1" dirty="0">
                <a:solidFill>
                  <a:schemeClr val="accent5"/>
                </a:solidFill>
                <a:latin typeface="Courier New" panose="02070309020205020404" pitchFamily="49" charset="0"/>
                <a:cs typeface="Courier New" panose="02070309020205020404" pitchFamily="49" charset="0"/>
              </a:rPr>
              <a:t>/*1.  Converting a String Into an </a:t>
            </a:r>
            <a:r>
              <a:rPr lang="en-US" sz="2000" i="1" dirty="0" err="1">
                <a:solidFill>
                  <a:schemeClr val="accent5"/>
                </a:solidFill>
                <a:latin typeface="Courier New" panose="02070309020205020404" pitchFamily="49" charset="0"/>
                <a:cs typeface="Courier New" panose="02070309020205020404" pitchFamily="49" charset="0"/>
              </a:rPr>
              <a:t>int</a:t>
            </a:r>
            <a:r>
              <a:rPr lang="en-US" sz="2000" i="1" dirty="0">
                <a:solidFill>
                  <a:schemeClr val="accent5"/>
                </a:solidFill>
                <a:latin typeface="Courier New" panose="02070309020205020404" pitchFamily="49" charset="0"/>
                <a:cs typeface="Courier New" panose="02070309020205020404" pitchFamily="49" charset="0"/>
              </a:rPr>
              <a:t> and float */</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#include &lt;</a:t>
            </a:r>
            <a:r>
              <a:rPr lang="en-US" sz="2000" dirty="0" err="1">
                <a:latin typeface="Courier New" panose="02070309020205020404" pitchFamily="49" charset="0"/>
                <a:cs typeface="Courier New" panose="02070309020205020404" pitchFamily="49" charset="0"/>
              </a:rPr>
              <a:t>stdio.h</a:t>
            </a:r>
            <a:r>
              <a:rPr lang="en-US" sz="2000" dirty="0">
                <a:latin typeface="Courier New" panose="02070309020205020404" pitchFamily="49" charset="0"/>
                <a:cs typeface="Courier New" panose="02070309020205020404" pitchFamily="49" charset="0"/>
              </a:rPr>
              <a:t>&gt;</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#include &lt;</a:t>
            </a:r>
            <a:r>
              <a:rPr lang="en-US" sz="2000" dirty="0" err="1">
                <a:latin typeface="Courier New" panose="02070309020205020404" pitchFamily="49" charset="0"/>
                <a:cs typeface="Courier New" panose="02070309020205020404" pitchFamily="49" charset="0"/>
              </a:rPr>
              <a:t>stdlib.h</a:t>
            </a:r>
            <a:r>
              <a:rPr lang="en-US" sz="2000" dirty="0">
                <a:latin typeface="Courier New" panose="02070309020205020404" pitchFamily="49" charset="0"/>
                <a:cs typeface="Courier New" panose="02070309020205020404" pitchFamily="49" charset="0"/>
              </a:rPr>
              <a:t>&gt;</a:t>
            </a:r>
          </a:p>
          <a:p>
            <a:pPr eaLnBrk="1" hangingPunct="1">
              <a:spcBef>
                <a:spcPts val="0"/>
              </a:spcBef>
              <a:buFont typeface="Wingdings" panose="05000000000000000000" pitchFamily="2" charset="2"/>
              <a:buNone/>
            </a:pP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main()</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char str1[ ] = "124z3yu87";</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char str2[ ] = "-3.4";</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char str3[ ] = "e24";</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i1 = </a:t>
            </a:r>
            <a:r>
              <a:rPr lang="en-US" sz="2000" dirty="0" err="1">
                <a:latin typeface="Courier New" panose="02070309020205020404" pitchFamily="49" charset="0"/>
                <a:cs typeface="Courier New" panose="02070309020205020404" pitchFamily="49" charset="0"/>
              </a:rPr>
              <a:t>atoi</a:t>
            </a:r>
            <a:r>
              <a:rPr lang="en-US" sz="2000" dirty="0">
                <a:latin typeface="Courier New" panose="02070309020205020404" pitchFamily="49" charset="0"/>
                <a:cs typeface="Courier New" panose="02070309020205020404" pitchFamily="49" charset="0"/>
              </a:rPr>
              <a:t>(str1), i2 = </a:t>
            </a:r>
            <a:r>
              <a:rPr lang="en-US" sz="2000" dirty="0" err="1">
                <a:latin typeface="Courier New" panose="02070309020205020404" pitchFamily="49" charset="0"/>
                <a:cs typeface="Courier New" panose="02070309020205020404" pitchFamily="49" charset="0"/>
              </a:rPr>
              <a:t>atoi</a:t>
            </a:r>
            <a:r>
              <a:rPr lang="en-US" sz="2000" dirty="0">
                <a:latin typeface="Courier New" panose="02070309020205020404" pitchFamily="49" charset="0"/>
                <a:cs typeface="Courier New" panose="02070309020205020404" pitchFamily="49" charset="0"/>
              </a:rPr>
              <a:t>(str2), </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i3 = </a:t>
            </a:r>
            <a:r>
              <a:rPr lang="en-US" sz="2000" dirty="0" err="1">
                <a:latin typeface="Courier New" panose="02070309020205020404" pitchFamily="49" charset="0"/>
                <a:cs typeface="Courier New" panose="02070309020205020404" pitchFamily="49" charset="0"/>
              </a:rPr>
              <a:t>atoi</a:t>
            </a:r>
            <a:r>
              <a:rPr lang="en-US" sz="2000" dirty="0">
                <a:latin typeface="Courier New" panose="02070309020205020404" pitchFamily="49" charset="0"/>
                <a:cs typeface="Courier New" panose="02070309020205020404" pitchFamily="49" charset="0"/>
              </a:rPr>
              <a:t>(str3);</a:t>
            </a:r>
          </a:p>
          <a:p>
            <a:pPr>
              <a:spcBef>
                <a:spcPts val="0"/>
              </a:spcBef>
              <a:buNone/>
            </a:pPr>
            <a:r>
              <a:rPr lang="en-US" sz="2000" dirty="0">
                <a:latin typeface="Courier New" panose="02070309020205020404" pitchFamily="49" charset="0"/>
                <a:cs typeface="Courier New" panose="02070309020205020404" pitchFamily="49" charset="0"/>
              </a:rPr>
              <a:t>	  float f2 = </a:t>
            </a:r>
            <a:r>
              <a:rPr lang="en-US" sz="2000" dirty="0" err="1">
                <a:latin typeface="Courier New" panose="02070309020205020404" pitchFamily="49" charset="0"/>
                <a:cs typeface="Courier New" panose="02070309020205020404" pitchFamily="49" charset="0"/>
              </a:rPr>
              <a:t>atof</a:t>
            </a:r>
            <a:r>
              <a:rPr lang="en-US" sz="2000" dirty="0">
                <a:latin typeface="Courier New" panose="02070309020205020404" pitchFamily="49" charset="0"/>
                <a:cs typeface="Courier New" panose="02070309020205020404" pitchFamily="49" charset="0"/>
              </a:rPr>
              <a:t>(str2);</a:t>
            </a:r>
          </a:p>
          <a:p>
            <a:pPr eaLnBrk="1" hangingPunct="1">
              <a:spcBef>
                <a:spcPts val="0"/>
              </a:spcBef>
              <a:buFont typeface="Wingdings" panose="05000000000000000000" pitchFamily="2" charset="2"/>
              <a:buNone/>
            </a:pPr>
            <a:endParaRPr lang="en-US" sz="2000" dirty="0">
              <a:latin typeface="Courier New" panose="02070309020205020404" pitchFamily="49" charset="0"/>
              <a:cs typeface="Courier New" panose="02070309020205020404" pitchFamily="49" charset="0"/>
            </a:endParaRP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("i1: %d\n", i1);   </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("i2: %d\n", i2);</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("i3: %d\n", i3);</a:t>
            </a:r>
          </a:p>
          <a:p>
            <a:pPr>
              <a:spcBef>
                <a:spcPts val="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("f2: %f\n", f2);</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    return 0;</a:t>
            </a:r>
          </a:p>
          <a:p>
            <a:pPr eaLnBrk="1" hangingPunct="1">
              <a:spcBef>
                <a:spcPts val="0"/>
              </a:spcBef>
              <a:buFont typeface="Wingdings" panose="05000000000000000000" pitchFamily="2" charset="2"/>
              <a:buNone/>
            </a:pPr>
            <a:r>
              <a:rPr lang="en-US" sz="2000" dirty="0">
                <a:latin typeface="Courier New" panose="02070309020205020404" pitchFamily="49" charset="0"/>
                <a:cs typeface="Courier New" panose="02070309020205020404" pitchFamily="49" charset="0"/>
              </a:rPr>
              <a:t>}</a:t>
            </a:r>
          </a:p>
        </p:txBody>
      </p:sp>
      <p:sp>
        <p:nvSpPr>
          <p:cNvPr id="4" name="TextBox 5"/>
          <p:cNvSpPr txBox="1">
            <a:spLocks noChangeArrowheads="1"/>
          </p:cNvSpPr>
          <p:nvPr/>
        </p:nvSpPr>
        <p:spPr bwMode="auto">
          <a:xfrm>
            <a:off x="5908725" y="4125345"/>
            <a:ext cx="1825625" cy="193899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None/>
            </a:pPr>
            <a:r>
              <a:rPr lang="en-US" sz="2000" dirty="0"/>
              <a:t>Output:</a:t>
            </a:r>
          </a:p>
          <a:p>
            <a:pPr>
              <a:buFont typeface="Wingdings" panose="05000000000000000000" pitchFamily="2" charset="2"/>
              <a:buNone/>
            </a:pPr>
            <a:endParaRPr lang="en-US" sz="2000" b="1" dirty="0"/>
          </a:p>
          <a:p>
            <a:pPr>
              <a:buFont typeface="Wingdings" panose="05000000000000000000" pitchFamily="2" charset="2"/>
              <a:buNone/>
            </a:pPr>
            <a:r>
              <a:rPr lang="en-US" sz="2000" dirty="0"/>
              <a:t>i1: 124 </a:t>
            </a:r>
            <a:br>
              <a:rPr lang="en-US" sz="2000" dirty="0"/>
            </a:br>
            <a:r>
              <a:rPr lang="en-US" sz="2000" dirty="0"/>
              <a:t>i2: -3 </a:t>
            </a:r>
            <a:br>
              <a:rPr lang="en-US" sz="2000" dirty="0"/>
            </a:br>
            <a:r>
              <a:rPr lang="en-US" sz="2000" dirty="0"/>
              <a:t>i3: 0 </a:t>
            </a:r>
          </a:p>
          <a:p>
            <a:pPr>
              <a:buFont typeface="Wingdings" panose="05000000000000000000" pitchFamily="2" charset="2"/>
              <a:buNone/>
            </a:pPr>
            <a:r>
              <a:rPr lang="en-US" sz="2000" dirty="0"/>
              <a:t>f2: -3.400000</a:t>
            </a:r>
          </a:p>
        </p:txBody>
      </p:sp>
    </p:spTree>
    <p:extLst>
      <p:ext uri="{BB962C8B-B14F-4D97-AF65-F5344CB8AC3E}">
        <p14:creationId xmlns:p14="http://schemas.microsoft.com/office/powerpoint/2010/main" val="284436423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1030</TotalTime>
  <Words>1666</Words>
  <Application>Microsoft Office PowerPoint</Application>
  <PresentationFormat>On-screen Show (4:3)</PresentationFormat>
  <Paragraphs>250</Paragraphs>
  <Slides>21</Slides>
  <Notes>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21</vt:i4>
      </vt:variant>
    </vt:vector>
  </HeadingPairs>
  <TitlesOfParts>
    <vt:vector size="34" baseType="lpstr">
      <vt:lpstr>Arial</vt:lpstr>
      <vt:lpstr>Britannic Bold</vt:lpstr>
      <vt:lpstr>Calibri</vt:lpstr>
      <vt:lpstr>Calibri Light</vt:lpstr>
      <vt:lpstr>Courier New</vt:lpstr>
      <vt:lpstr>Franklin Gothic Book</vt:lpstr>
      <vt:lpstr>Impact</vt:lpstr>
      <vt:lpstr>Perpetua</vt:lpstr>
      <vt:lpstr>Wingdings</vt:lpstr>
      <vt:lpstr>Wingdings 2</vt:lpstr>
      <vt:lpstr>Office Theme</vt:lpstr>
      <vt:lpstr>Equity</vt:lpstr>
      <vt:lpstr>1_Equity</vt:lpstr>
      <vt:lpstr>CSE 115 Programming Language I</vt:lpstr>
      <vt:lpstr>Lecture 11- Strings </vt:lpstr>
      <vt:lpstr>Fundamentals of Characters and Strings</vt:lpstr>
      <vt:lpstr>PowerPoint Presentation</vt:lpstr>
      <vt:lpstr>Difference Between an Integer Digit and a Character Digit</vt:lpstr>
      <vt:lpstr>Example: ASCII Character</vt:lpstr>
      <vt:lpstr>Sample Output</vt:lpstr>
      <vt:lpstr>Example</vt:lpstr>
      <vt:lpstr>String Declaration and Initialization</vt:lpstr>
      <vt:lpstr>String Declaration and Initialization</vt:lpstr>
      <vt:lpstr>String Declaration and Initialization</vt:lpstr>
      <vt:lpstr>String Declaration and Initialization</vt:lpstr>
      <vt:lpstr>String Declaration and Initialization</vt:lpstr>
      <vt:lpstr>Example: String and ‘\0’</vt:lpstr>
      <vt:lpstr>Example: String and ‘\0’</vt:lpstr>
      <vt:lpstr>String Input/Output Functions</vt:lpstr>
      <vt:lpstr>Example: gets, puts, scanf and printf</vt:lpstr>
      <vt:lpstr>Example: gets, puts, scanf and printf</vt:lpstr>
      <vt:lpstr>String Conversion Functions</vt:lpstr>
      <vt:lpstr>Example: atoi()  and atof()</vt:lpstr>
      <vt:lpstr>Example: atoi()  and atof()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tmriddle</dc:creator>
  <cp:lastModifiedBy>rakibulhasan showrov</cp:lastModifiedBy>
  <cp:revision>113</cp:revision>
  <dcterms:created xsi:type="dcterms:W3CDTF">2014-09-11T18:03:18Z</dcterms:created>
  <dcterms:modified xsi:type="dcterms:W3CDTF">2020-03-30T07:36:50Z</dcterms:modified>
</cp:coreProperties>
</file>