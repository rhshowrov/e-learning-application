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281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2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80" r:id="rId21"/>
    <p:sldId id="273" r:id="rId22"/>
    <p:sldId id="274" r:id="rId23"/>
    <p:sldId id="275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69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E1007A-5EBA-4F37-A2E2-AF0C071E6933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1D9DF-756D-45D0-A32D-53E872568F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2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5737A5-5340-4225-8334-16B1B126132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33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5737A5-5340-4225-8334-16B1B126132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30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5424" y="685489"/>
            <a:ext cx="4550258" cy="3430561"/>
          </a:xfrm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69253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49819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90631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38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9709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12911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52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883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3164708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6419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658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81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A488F-2413-4314-8D2F-34758B99BD7A}" type="datetimeFigureOut">
              <a:rPr lang="en-US" smtClean="0"/>
              <a:pPr/>
              <a:t>3/21/2020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ECF8B-CAFB-4A4E-B666-0388BEFAA3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B209F20-5D46-4CB8-A389-4DC9F4329BAE}" type="datetimeFigureOut">
              <a:rPr lang="en-US" smtClean="0">
                <a:solidFill>
                  <a:srgbClr val="696464"/>
                </a:solidFill>
              </a:rPr>
              <a:pPr/>
              <a:t>3/21/2020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871496-B815-43DF-A946-ECB5A3D236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08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Instructor: </a:t>
            </a:r>
            <a:r>
              <a:rPr lang="en-US" b="1" dirty="0" err="1" smtClean="0"/>
              <a:t>Rummana</a:t>
            </a:r>
            <a:r>
              <a:rPr lang="en-US" b="1" dirty="0" smtClean="0"/>
              <a:t> </a:t>
            </a:r>
            <a:r>
              <a:rPr lang="en-US" b="1" dirty="0" err="1" smtClean="0"/>
              <a:t>Rahman</a:t>
            </a:r>
            <a:endParaRPr lang="en-US" b="1" dirty="0" smtClean="0"/>
          </a:p>
          <a:p>
            <a:pPr algn="ctr"/>
            <a:r>
              <a:rPr lang="en-US" sz="2000" b="1" dirty="0" smtClean="0"/>
              <a:t>Sr. Lecturer </a:t>
            </a:r>
          </a:p>
          <a:p>
            <a:pPr algn="ctr"/>
            <a:r>
              <a:rPr lang="en-US" sz="2000" b="1" dirty="0" smtClean="0"/>
              <a:t>North South University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CSE 115</a:t>
            </a:r>
            <a:br>
              <a:rPr lang="en-US" dirty="0" smtClean="0"/>
            </a:br>
            <a:r>
              <a:rPr lang="en-US" sz="2700" dirty="0" smtClean="0"/>
              <a:t>Programming Language I</a:t>
            </a:r>
            <a:r>
              <a:rPr lang="en-US" sz="3100" dirty="0" smtClean="0"/>
              <a:t/>
            </a:r>
            <a:br>
              <a:rPr lang="en-US" sz="3100" dirty="0" smtClean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942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21336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Lecture 12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Special String Functions (Requiring &lt;</a:t>
            </a:r>
            <a:r>
              <a:rPr lang="en-US" sz="3100" dirty="0" err="1" smtClean="0"/>
              <a:t>string.h</a:t>
            </a:r>
            <a:r>
              <a:rPr lang="en-US" sz="3100" dirty="0" smtClean="0"/>
              <a:t>&gt; )</a:t>
            </a:r>
            <a:endParaRPr lang="en-US" sz="3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467600" cy="914400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 smtClean="0"/>
              <a:t> </a:t>
            </a:r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305800" cy="50292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	char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someStr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[100] = "I love Bangladesh";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someStr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("Length of %s = %d\n",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someStr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n);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gets(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someStr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n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someStr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("Length of %s = %d\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n",someStr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n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n =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("Hello world");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("Length of Hello world = %d\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n",n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8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String Assignment</a:t>
            </a:r>
            <a:endParaRPr lang="en-US" sz="4000" dirty="0">
              <a:latin typeface="Courier New" panose="02070309020205020404" pitchFamily="49" charset="0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Strings </a:t>
            </a:r>
            <a:r>
              <a:rPr lang="en-US" sz="2800" dirty="0"/>
              <a:t>can not be </a:t>
            </a:r>
            <a:r>
              <a:rPr lang="en-US" sz="2800" dirty="0" smtClean="0"/>
              <a:t>assigned using </a:t>
            </a:r>
            <a:r>
              <a:rPr lang="en-US" sz="2800" dirty="0"/>
              <a:t>the assignment operator </a:t>
            </a:r>
            <a:r>
              <a:rPr lang="en-US" sz="2800" dirty="0" smtClean="0"/>
              <a:t>‘=’.</a:t>
            </a:r>
          </a:p>
          <a:p>
            <a:pPr marL="0" indent="0"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[20]=</a:t>
            </a:r>
            <a:r>
              <a:rPr lang="en-US" sz="2800" dirty="0" smtClean="0">
                <a:latin typeface="Courier New" panose="02070309020205020404" pitchFamily="49" charset="0"/>
              </a:rPr>
              <a:t> “Test String”; </a:t>
            </a:r>
            <a:r>
              <a:rPr lang="en-US" sz="2000" b="1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</a:rPr>
              <a:t>valid</a:t>
            </a:r>
            <a:endParaRPr lang="en-US" sz="2800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But, </a:t>
            </a:r>
          </a:p>
          <a:p>
            <a:pPr marL="0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[20];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637" lvl="1" indent="0">
              <a:buNone/>
            </a:pPr>
            <a:r>
              <a:rPr lang="en-US" sz="2400" dirty="0" smtClean="0">
                <a:latin typeface="Courier New" panose="02070309020205020404" pitchFamily="49" charset="0"/>
              </a:rPr>
              <a:t>	</a:t>
            </a:r>
            <a:r>
              <a:rPr lang="en-US" sz="2400" dirty="0" err="1" smtClean="0">
                <a:latin typeface="Courier New" panose="02070309020205020404" pitchFamily="49" charset="0"/>
              </a:rPr>
              <a:t>str</a:t>
            </a:r>
            <a:r>
              <a:rPr lang="en-US" sz="2400" dirty="0" smtClean="0">
                <a:latin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</a:rPr>
              <a:t>= </a:t>
            </a:r>
            <a:r>
              <a:rPr lang="en-US" sz="2400" dirty="0" smtClean="0">
                <a:latin typeface="Courier New" panose="02070309020205020404" pitchFamily="49" charset="0"/>
              </a:rPr>
              <a:t>“Test </a:t>
            </a:r>
            <a:r>
              <a:rPr lang="en-US" sz="2400" dirty="0">
                <a:latin typeface="Courier New" panose="02070309020205020404" pitchFamily="49" charset="0"/>
              </a:rPr>
              <a:t>String</a:t>
            </a:r>
            <a:r>
              <a:rPr lang="en-US" sz="2400" dirty="0" smtClean="0">
                <a:latin typeface="Courier New" panose="02070309020205020404" pitchFamily="49" charset="0"/>
              </a:rPr>
              <a:t>”;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not </a:t>
            </a:r>
            <a:r>
              <a:rPr lang="en-US" sz="2400" b="1" dirty="0">
                <a:solidFill>
                  <a:srgbClr val="FF0000"/>
                </a:solidFill>
              </a:rPr>
              <a:t>valid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sz="2800" dirty="0" smtClean="0"/>
              <a:t>String copy</a:t>
            </a:r>
          </a:p>
          <a:p>
            <a:pPr marL="274637" lvl="1" indent="0">
              <a:buNone/>
            </a:pPr>
            <a:r>
              <a:rPr lang="en-US" sz="2400" dirty="0" smtClean="0"/>
              <a:t>	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(destination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source)</a:t>
            </a:r>
            <a:endParaRPr lang="en-US" sz="2400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15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Function </a:t>
            </a:r>
            <a:r>
              <a:rPr lang="en-US" sz="4000" b="1" dirty="0" err="1" smtClean="0">
                <a:solidFill>
                  <a:srgbClr val="FF0000"/>
                </a:solidFill>
                <a:latin typeface="Courier New" panose="02070309020205020404" pitchFamily="49" charset="0"/>
              </a:rPr>
              <a:t>strcpy</a:t>
            </a:r>
            <a:r>
              <a:rPr lang="en-US" sz="40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endParaRPr lang="en-US" sz="4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Function </a:t>
            </a:r>
            <a:r>
              <a:rPr lang="en-US" sz="2800" b="1" dirty="0" err="1">
                <a:latin typeface="Courier New" panose="02070309020205020404" pitchFamily="49" charset="0"/>
              </a:rPr>
              <a:t>strcpy</a:t>
            </a:r>
            <a:r>
              <a:rPr lang="en-US" sz="2800" dirty="0"/>
              <a:t> copies </a:t>
            </a:r>
            <a:r>
              <a:rPr lang="en-US" sz="2800" dirty="0" smtClean="0"/>
              <a:t>source string into </a:t>
            </a:r>
            <a:r>
              <a:rPr lang="en-US" sz="2800" dirty="0"/>
              <a:t>the </a:t>
            </a:r>
            <a:r>
              <a:rPr lang="en-US" sz="2800" dirty="0" smtClean="0"/>
              <a:t>destination string.</a:t>
            </a:r>
            <a:endParaRPr lang="en-US" sz="2800" dirty="0"/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[15];</a:t>
            </a:r>
          </a:p>
          <a:p>
            <a:pPr marL="547687" lvl="2" indent="0">
              <a:lnSpc>
                <a:spcPct val="90000"/>
              </a:lnSpc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600" dirty="0"/>
              <a:t>The </a:t>
            </a:r>
            <a:r>
              <a:rPr lang="en-US" sz="2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null </a:t>
            </a:r>
            <a:r>
              <a:rPr lang="en-US" sz="2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character</a:t>
            </a:r>
            <a:r>
              <a:rPr lang="en-US" sz="2600" b="1" dirty="0" smtClean="0"/>
              <a:t> </a:t>
            </a:r>
            <a:r>
              <a:rPr lang="en-US" sz="2600" dirty="0"/>
              <a:t>is appended at the end automatically.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If source string is longer than the destination string, the overflow characters may occupy the memory space used by other variables</a:t>
            </a:r>
            <a:r>
              <a:rPr lang="en-US" sz="2600" dirty="0" smtClean="0"/>
              <a:t>.</a:t>
            </a:r>
            <a:endParaRPr lang="en-US" sz="2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496951"/>
              </p:ext>
            </p:extLst>
          </p:nvPr>
        </p:nvGraphicFramePr>
        <p:xfrm>
          <a:off x="1167626" y="5029200"/>
          <a:ext cx="694474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95288" y="5029200"/>
            <a:ext cx="74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69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Function </a:t>
            </a:r>
            <a:r>
              <a:rPr lang="en-US" sz="4000" b="1" dirty="0" err="1" smtClean="0">
                <a:latin typeface="Courier New" panose="02070309020205020404" pitchFamily="49" charset="0"/>
              </a:rPr>
              <a:t>strcpy</a:t>
            </a:r>
            <a:r>
              <a:rPr lang="en-US" sz="4000" b="1" dirty="0" smtClean="0">
                <a:latin typeface="Courier New" panose="02070309020205020404" pitchFamily="49" charset="0"/>
              </a:rPr>
              <a:t>()</a:t>
            </a:r>
            <a:endParaRPr lang="en-US" sz="4000" dirty="0">
              <a:latin typeface="Courier New" panose="02070309020205020404" pitchFamily="49" charset="0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Function </a:t>
            </a:r>
            <a:r>
              <a:rPr lang="en-US" sz="2800" dirty="0" err="1">
                <a:latin typeface="Courier New" panose="02070309020205020404" pitchFamily="49" charset="0"/>
              </a:rPr>
              <a:t>strcpy</a:t>
            </a:r>
            <a:r>
              <a:rPr lang="en-US" sz="2800" dirty="0"/>
              <a:t> copies source string into the destination string</a:t>
            </a:r>
            <a:r>
              <a:rPr lang="en-US" sz="2800" dirty="0" smtClean="0"/>
              <a:t>.</a:t>
            </a:r>
            <a:endParaRPr lang="en-US" sz="2800" dirty="0"/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[15];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“test string”);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The </a:t>
            </a:r>
            <a:r>
              <a:rPr lang="en-US" sz="2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null </a:t>
            </a:r>
            <a:r>
              <a:rPr lang="en-US" sz="2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character</a:t>
            </a:r>
            <a:r>
              <a:rPr lang="en-US" sz="2600" b="1" dirty="0" smtClean="0"/>
              <a:t> </a:t>
            </a:r>
            <a:r>
              <a:rPr lang="en-US" sz="2600" dirty="0"/>
              <a:t>is appended at the end automatically.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If source string is longer than the destination string, the overflow characters may occupy the memory space used by other variables</a:t>
            </a:r>
            <a:r>
              <a:rPr lang="en-US" sz="2600" dirty="0" smtClean="0"/>
              <a:t>.</a:t>
            </a:r>
            <a:endParaRPr lang="en-US" sz="2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167626" y="5321886"/>
          <a:ext cx="694474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95288" y="5500467"/>
            <a:ext cx="74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42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Function </a:t>
            </a:r>
            <a:r>
              <a:rPr lang="en-US" sz="4000" b="1" dirty="0" err="1" smtClean="0">
                <a:solidFill>
                  <a:srgbClr val="FF0000"/>
                </a:solidFill>
                <a:latin typeface="Courier New" panose="02070309020205020404" pitchFamily="49" charset="0"/>
              </a:rPr>
              <a:t>str</a:t>
            </a:r>
            <a:r>
              <a:rPr lang="en-US" sz="4000" b="1" dirty="0" err="1" smtClean="0">
                <a:latin typeface="Courier New" panose="02070309020205020404" pitchFamily="49" charset="0"/>
              </a:rPr>
              <a:t>n</a:t>
            </a:r>
            <a:r>
              <a:rPr lang="en-US" sz="4000" b="1" dirty="0" err="1" smtClean="0">
                <a:solidFill>
                  <a:srgbClr val="FF0000"/>
                </a:solidFill>
                <a:latin typeface="Courier New" panose="02070309020205020404" pitchFamily="49" charset="0"/>
              </a:rPr>
              <a:t>cpy</a:t>
            </a:r>
            <a:r>
              <a:rPr lang="en-US" sz="40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endParaRPr lang="en-US" sz="400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Function </a:t>
            </a:r>
            <a:r>
              <a:rPr lang="en-US" sz="2800" dirty="0" err="1">
                <a:latin typeface="Courier New" panose="02070309020205020404" pitchFamily="49" charset="0"/>
              </a:rPr>
              <a:t>strncpy</a:t>
            </a:r>
            <a:r>
              <a:rPr lang="en-US" sz="2800" dirty="0"/>
              <a:t> copies source string into the destination string</a:t>
            </a:r>
            <a:r>
              <a:rPr lang="en-US" sz="2800" dirty="0" smtClean="0"/>
              <a:t> </a:t>
            </a:r>
            <a:r>
              <a:rPr lang="en-US" sz="2800" dirty="0"/>
              <a:t>by specifying the number of characters to copy.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char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[15];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400" dirty="0" smtClean="0"/>
              <a:t>If </a:t>
            </a:r>
            <a:r>
              <a:rPr lang="en-US" sz="2400" dirty="0"/>
              <a:t>source string is longer than the destination string, the overflow characters are discarded automatically.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167626" y="4800600"/>
          <a:ext cx="694474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288" y="4800600"/>
            <a:ext cx="74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74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Function </a:t>
            </a:r>
            <a:r>
              <a:rPr lang="en-US" sz="4000" b="1" dirty="0" err="1" smtClean="0">
                <a:latin typeface="Courier New" panose="02070309020205020404" pitchFamily="49" charset="0"/>
              </a:rPr>
              <a:t>strncpy</a:t>
            </a:r>
            <a:r>
              <a:rPr lang="en-US" sz="4000" b="1" dirty="0" smtClean="0">
                <a:latin typeface="Courier New" panose="02070309020205020404" pitchFamily="49" charset="0"/>
              </a:rPr>
              <a:t>()</a:t>
            </a:r>
            <a:endParaRPr lang="en-US" sz="4000" dirty="0">
              <a:latin typeface="Courier New" panose="02070309020205020404" pitchFamily="49" charset="0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Function </a:t>
            </a:r>
            <a:r>
              <a:rPr lang="en-US" sz="2800" dirty="0" err="1">
                <a:latin typeface="Courier New" panose="02070309020205020404" pitchFamily="49" charset="0"/>
              </a:rPr>
              <a:t>strncpy</a:t>
            </a:r>
            <a:r>
              <a:rPr lang="en-US" sz="2800" dirty="0"/>
              <a:t> copies source string into the destination string by specifying the number of characters to copy.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char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[15];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strncpy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“test string”, 6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4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</a:pPr>
            <a:endParaRPr lang="en-US" sz="2400" dirty="0" smtClean="0"/>
          </a:p>
          <a:p>
            <a:pPr lvl="1">
              <a:lnSpc>
                <a:spcPct val="90000"/>
              </a:lnSpc>
            </a:pPr>
            <a:r>
              <a:rPr lang="en-US" sz="2400" dirty="0" smtClean="0"/>
              <a:t>If </a:t>
            </a:r>
            <a:r>
              <a:rPr lang="en-US" sz="2400" dirty="0"/>
              <a:t>source string is longer than the destination string, the overflow characters are discarded automatically.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520981"/>
              </p:ext>
            </p:extLst>
          </p:nvPr>
        </p:nvGraphicFramePr>
        <p:xfrm>
          <a:off x="1167626" y="5321886"/>
          <a:ext cx="694474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288" y="5500467"/>
            <a:ext cx="74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52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Function </a:t>
            </a:r>
            <a:r>
              <a:rPr lang="en-US" sz="4000" b="1" dirty="0" err="1" smtClean="0">
                <a:latin typeface="Courier New" panose="02070309020205020404" pitchFamily="49" charset="0"/>
              </a:rPr>
              <a:t>strncpy</a:t>
            </a:r>
            <a:r>
              <a:rPr lang="en-US" sz="4000" b="1" dirty="0" smtClean="0">
                <a:latin typeface="Courier New" panose="02070309020205020404" pitchFamily="49" charset="0"/>
              </a:rPr>
              <a:t>()</a:t>
            </a:r>
            <a:endParaRPr lang="en-US" sz="4000" dirty="0">
              <a:latin typeface="Courier New" panose="02070309020205020404" pitchFamily="49" charset="0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Function </a:t>
            </a:r>
            <a:r>
              <a:rPr lang="en-US" sz="2800" dirty="0" err="1">
                <a:latin typeface="Courier New" panose="02070309020205020404" pitchFamily="49" charset="0"/>
              </a:rPr>
              <a:t>strncpy</a:t>
            </a:r>
            <a:r>
              <a:rPr lang="en-US" sz="2800" dirty="0"/>
              <a:t> copies source string into the destination string by specifying the number of characters to copy</a:t>
            </a:r>
            <a:r>
              <a:rPr lang="en-US" sz="2800" dirty="0" smtClean="0"/>
              <a:t>.</a:t>
            </a:r>
            <a:endParaRPr lang="en-US" sz="2800" dirty="0"/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char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[15];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strncpy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“test string”, 6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[6</a:t>
            </a: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 = ‘\0</a:t>
            </a:r>
            <a:r>
              <a:rPr 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You have to place the </a:t>
            </a:r>
            <a:r>
              <a:rPr lang="en-US" sz="2400" dirty="0">
                <a:solidFill>
                  <a:srgbClr val="FF0000"/>
                </a:solidFill>
              </a:rPr>
              <a:t>null</a:t>
            </a:r>
            <a:r>
              <a:rPr lang="en-US" sz="2400" dirty="0"/>
              <a:t> character </a:t>
            </a:r>
            <a:r>
              <a:rPr lang="en-US" sz="2400" dirty="0">
                <a:solidFill>
                  <a:srgbClr val="FF0000"/>
                </a:solidFill>
              </a:rPr>
              <a:t>manually</a:t>
            </a:r>
            <a:r>
              <a:rPr lang="en-US" sz="2400" dirty="0" smtClean="0"/>
              <a:t>.</a:t>
            </a:r>
            <a:endParaRPr lang="en-US" sz="2400" b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>
              <a:lnSpc>
                <a:spcPct val="90000"/>
              </a:lnSpc>
            </a:pPr>
            <a:r>
              <a:rPr lang="en-US" sz="2400" dirty="0"/>
              <a:t>If source string is longer than the destination string, the overflow characters are discarded automatically.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167626" y="5321886"/>
          <a:ext cx="694474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288" y="5500467"/>
            <a:ext cx="74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82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trcpy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cs typeface="Courier New" panose="02070309020205020404" pitchFamily="49" charset="0"/>
              </a:rPr>
              <a:t>and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cpy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334000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char source[ ] = "fresh2refresh";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char target[20]= "";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("source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%s\n", source);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("target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%s\n", target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(target, source);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("target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after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1st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) = %s\n", target);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(target, "***************");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("target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after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2st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) = %s\n", target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strncpy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(target, source, 6);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("target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after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strncpy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) = %s\n", target);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target[6] = '\0';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("target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after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target[6] = '\\0' = %s\n", target);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02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r="49053" b="52859"/>
          <a:stretch/>
        </p:blipFill>
        <p:spPr>
          <a:xfrm>
            <a:off x="-331881" y="1143000"/>
            <a:ext cx="8934849" cy="464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65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String Appending</a:t>
            </a:r>
            <a:endParaRPr lang="en-US" sz="4000" dirty="0">
              <a:latin typeface="Courier New" panose="02070309020205020404" pitchFamily="49" charset="0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Strings can </a:t>
            </a:r>
            <a:r>
              <a:rPr lang="en-US" sz="2800" dirty="0"/>
              <a:t>not be </a:t>
            </a:r>
            <a:r>
              <a:rPr lang="en-US" sz="2800" dirty="0" smtClean="0"/>
              <a:t>appended using </a:t>
            </a:r>
            <a:r>
              <a:rPr lang="en-US" sz="2800" dirty="0"/>
              <a:t>the </a:t>
            </a:r>
            <a:r>
              <a:rPr lang="en-US" sz="2800" dirty="0" smtClean="0"/>
              <a:t>addition </a:t>
            </a:r>
            <a:r>
              <a:rPr lang="en-US" sz="2800" dirty="0"/>
              <a:t>operator </a:t>
            </a:r>
            <a:r>
              <a:rPr lang="en-US" sz="2800" dirty="0" smtClean="0"/>
              <a:t>‘+’.</a:t>
            </a:r>
            <a:endParaRPr lang="en-US" sz="2800" dirty="0"/>
          </a:p>
          <a:p>
            <a:pPr marL="274637" lvl="1" indent="0">
              <a:buNone/>
            </a:pPr>
            <a:r>
              <a:rPr lang="en-US" sz="2400" dirty="0" smtClean="0">
                <a:latin typeface="Courier New" panose="02070309020205020404" pitchFamily="49" charset="0"/>
              </a:rPr>
              <a:t>	</a:t>
            </a:r>
            <a:r>
              <a:rPr lang="en-US" sz="2400" dirty="0" err="1" smtClean="0">
                <a:latin typeface="Courier New" panose="02070309020205020404" pitchFamily="49" charset="0"/>
              </a:rPr>
              <a:t>str</a:t>
            </a:r>
            <a:r>
              <a:rPr lang="en-US" sz="2400" dirty="0" smtClean="0">
                <a:latin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</a:rPr>
              <a:t>= </a:t>
            </a:r>
            <a:r>
              <a:rPr lang="en-US" sz="2400" dirty="0" smtClean="0">
                <a:latin typeface="Courier New" panose="02070309020205020404" pitchFamily="49" charset="0"/>
              </a:rPr>
              <a:t>“Test” + “String”;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not </a:t>
            </a:r>
            <a:r>
              <a:rPr lang="en-US" sz="2400" b="1" dirty="0">
                <a:solidFill>
                  <a:srgbClr val="FF0000"/>
                </a:solidFill>
              </a:rPr>
              <a:t>valid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sz="2800" dirty="0" smtClean="0"/>
              <a:t>String concatenation</a:t>
            </a:r>
          </a:p>
          <a:p>
            <a:pPr marL="274637" lvl="1" indent="0">
              <a:buNone/>
            </a:pPr>
            <a:r>
              <a:rPr lang="en-US" sz="2400" dirty="0" smtClean="0"/>
              <a:t>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(destination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source)</a:t>
            </a:r>
            <a:endParaRPr lang="en-US" sz="2400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68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Function</a:t>
            </a:r>
            <a:r>
              <a:rPr lang="en-US" sz="4000" dirty="0" smtClean="0">
                <a:solidFill>
                  <a:srgbClr val="FF0000"/>
                </a:solidFill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Courier New" panose="02070309020205020404" pitchFamily="49" charset="0"/>
              </a:rPr>
              <a:t>strcat</a:t>
            </a:r>
            <a:r>
              <a:rPr lang="en-US" sz="40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endParaRPr lang="en-US" sz="4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Function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en-US" sz="2800" dirty="0"/>
              <a:t> </a:t>
            </a:r>
            <a:r>
              <a:rPr lang="en-US" sz="2800" dirty="0" smtClean="0"/>
              <a:t>concatenates </a:t>
            </a:r>
            <a:r>
              <a:rPr lang="en-US" sz="2800" dirty="0"/>
              <a:t>the </a:t>
            </a:r>
            <a:r>
              <a:rPr lang="en-US" sz="2800" dirty="0" smtClean="0"/>
              <a:t>destination string with </a:t>
            </a:r>
            <a:r>
              <a:rPr lang="en-US" sz="2800" dirty="0"/>
              <a:t>the </a:t>
            </a:r>
            <a:r>
              <a:rPr lang="en-US" sz="2800" dirty="0" smtClean="0"/>
              <a:t>source string.</a:t>
            </a:r>
            <a:endParaRPr lang="en-US" sz="2800" dirty="0"/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har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[15] = “Yin”;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199837"/>
              </p:ext>
            </p:extLst>
          </p:nvPr>
        </p:nvGraphicFramePr>
        <p:xfrm>
          <a:off x="1139483" y="4648200"/>
          <a:ext cx="694474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4724400"/>
            <a:ext cx="74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00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Function </a:t>
            </a:r>
            <a:r>
              <a:rPr lang="en-US" sz="4000" b="1" dirty="0" err="1" smtClean="0">
                <a:latin typeface="Courier New" panose="02070309020205020404" pitchFamily="49" charset="0"/>
              </a:rPr>
              <a:t>strcat</a:t>
            </a:r>
            <a:r>
              <a:rPr lang="en-US" sz="4000" b="1" dirty="0" smtClean="0">
                <a:latin typeface="Courier New" panose="02070309020205020404" pitchFamily="49" charset="0"/>
              </a:rPr>
              <a:t>()</a:t>
            </a:r>
            <a:endParaRPr lang="en-US" sz="4000" dirty="0">
              <a:latin typeface="Courier New" panose="02070309020205020404" pitchFamily="49" charset="0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Function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en-US" sz="2800" dirty="0"/>
              <a:t> concatenates the destination string with the source string.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[15] = “Yin”;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 Yang”);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167626" y="5321886"/>
          <a:ext cx="694474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288" y="5500467"/>
            <a:ext cx="74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1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Function </a:t>
            </a:r>
            <a:r>
              <a:rPr lang="en-US" sz="4000" b="1" dirty="0" err="1" smtClean="0">
                <a:solidFill>
                  <a:srgbClr val="FF0000"/>
                </a:solidFill>
                <a:latin typeface="Courier New" panose="02070309020205020404" pitchFamily="49" charset="0"/>
              </a:rPr>
              <a:t>str</a:t>
            </a:r>
            <a:r>
              <a:rPr lang="en-US" sz="4000" b="1" dirty="0" err="1" smtClean="0">
                <a:latin typeface="Courier New" panose="02070309020205020404" pitchFamily="49" charset="0"/>
              </a:rPr>
              <a:t>n</a:t>
            </a:r>
            <a:r>
              <a:rPr lang="en-US" sz="4000" b="1" dirty="0" err="1" smtClean="0">
                <a:solidFill>
                  <a:srgbClr val="FF0000"/>
                </a:solidFill>
                <a:latin typeface="Courier New" panose="02070309020205020404" pitchFamily="49" charset="0"/>
              </a:rPr>
              <a:t>cat</a:t>
            </a:r>
            <a:r>
              <a:rPr lang="en-US" sz="40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()</a:t>
            </a:r>
            <a:endParaRPr lang="en-US" sz="4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Function 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sz="2800" dirty="0" smtClean="0"/>
              <a:t> </a:t>
            </a:r>
            <a:r>
              <a:rPr lang="en-US" sz="2800" dirty="0"/>
              <a:t>concatenates the destination string with the source string. </a:t>
            </a:r>
            <a:r>
              <a:rPr lang="en-US" sz="2800" dirty="0" smtClean="0"/>
              <a:t>By the specified number of characters to append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800" dirty="0"/>
              <a:t>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char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[15] =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“quest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931786"/>
              </p:ext>
            </p:extLst>
          </p:nvPr>
        </p:nvGraphicFramePr>
        <p:xfrm>
          <a:off x="1167626" y="4495800"/>
          <a:ext cx="694474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288" y="4495800"/>
            <a:ext cx="74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2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Function </a:t>
            </a:r>
            <a:r>
              <a:rPr lang="en-US" sz="4000" b="1" dirty="0" err="1" smtClean="0">
                <a:latin typeface="Courier New" panose="02070309020205020404" pitchFamily="49" charset="0"/>
              </a:rPr>
              <a:t>strncat</a:t>
            </a:r>
            <a:r>
              <a:rPr lang="en-US" sz="4000" b="1" dirty="0" smtClean="0">
                <a:latin typeface="Courier New" panose="02070309020205020404" pitchFamily="49" charset="0"/>
              </a:rPr>
              <a:t>()</a:t>
            </a:r>
            <a:endParaRPr lang="en-US" sz="4000" dirty="0">
              <a:latin typeface="Courier New" panose="02070309020205020404" pitchFamily="49" charset="0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Function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en-US" sz="2800" dirty="0"/>
              <a:t> concatenates the destination string with the source string. </a:t>
            </a:r>
            <a:r>
              <a:rPr lang="en-US" sz="2800" dirty="0" smtClean="0"/>
              <a:t>By the specified number of characters to append</a:t>
            </a: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800" dirty="0"/>
              <a:t>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char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[15] =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“quest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”;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47687" lvl="2" indent="0">
              <a:lnSpc>
                <a:spcPct val="90000"/>
              </a:lnSpc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strncat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“ionized”, 3);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434736"/>
              </p:ext>
            </p:extLst>
          </p:nvPr>
        </p:nvGraphicFramePr>
        <p:xfrm>
          <a:off x="1167626" y="4572000"/>
          <a:ext cx="694474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298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288" y="4572000"/>
            <a:ext cx="74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54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cs typeface="Courier New" panose="02070309020205020404" pitchFamily="49" charset="0"/>
              </a:rPr>
              <a:t>and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6172200" cy="4800600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 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 char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str1[50] = "", str2[50];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(str2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,“We");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strncat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(str1, str2, 2);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(str2,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“love");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strncat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(str1, str2,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4);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strncat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(str1,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“C",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strncat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(str1,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“Language",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("%s", str1);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543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String Comparison: </a:t>
            </a:r>
            <a:r>
              <a:rPr lang="en-US" sz="36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sz="36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400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7639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comparison between two strings is done by comparing each corresponding character in </a:t>
            </a:r>
            <a:r>
              <a:rPr lang="en-US" sz="2400" dirty="0" smtClean="0"/>
              <a:t>them (in terms of ASCII code).</a:t>
            </a:r>
            <a:endParaRPr lang="en-US" sz="2400" dirty="0"/>
          </a:p>
          <a:p>
            <a:pPr lvl="1"/>
            <a:r>
              <a:rPr lang="en-US" sz="2000" dirty="0" smtClean="0"/>
              <a:t>“</a:t>
            </a:r>
            <a:r>
              <a:rPr lang="en-US" sz="2000" dirty="0"/>
              <a:t>thr</a:t>
            </a:r>
            <a:r>
              <a:rPr lang="en-US" sz="2000" dirty="0">
                <a:solidFill>
                  <a:srgbClr val="FF0000"/>
                </a:solidFill>
              </a:rPr>
              <a:t>i</a:t>
            </a:r>
            <a:r>
              <a:rPr lang="en-US" sz="2000" dirty="0"/>
              <a:t>ll” &lt; “thr</a:t>
            </a:r>
            <a:r>
              <a:rPr lang="en-US" sz="2000" dirty="0">
                <a:solidFill>
                  <a:srgbClr val="FF0000"/>
                </a:solidFill>
              </a:rPr>
              <a:t>o</a:t>
            </a:r>
            <a:r>
              <a:rPr lang="en-US" sz="2000" dirty="0"/>
              <a:t>w</a:t>
            </a:r>
            <a:r>
              <a:rPr lang="en-US" sz="2000" dirty="0" smtClean="0"/>
              <a:t>”</a:t>
            </a:r>
            <a:endParaRPr lang="en-US" sz="2000" dirty="0"/>
          </a:p>
          <a:p>
            <a:pPr lvl="1"/>
            <a:r>
              <a:rPr lang="en-US" sz="2000" dirty="0"/>
              <a:t>“joy” &lt; joy</a:t>
            </a:r>
            <a:r>
              <a:rPr lang="en-US" sz="2000" dirty="0">
                <a:solidFill>
                  <a:srgbClr val="FF0000"/>
                </a:solidFill>
              </a:rPr>
              <a:t>ous</a:t>
            </a:r>
            <a:r>
              <a:rPr lang="en-US" sz="2000" dirty="0" smtClean="0"/>
              <a:t>“</a:t>
            </a:r>
          </a:p>
          <a:p>
            <a:pPr lvl="1"/>
            <a:r>
              <a:rPr lang="en-US" sz="2000" dirty="0" smtClean="0"/>
              <a:t>“</a:t>
            </a:r>
            <a:r>
              <a:rPr lang="en-US" sz="2000" dirty="0" smtClean="0">
                <a:solidFill>
                  <a:srgbClr val="FF0000"/>
                </a:solidFill>
              </a:rPr>
              <a:t>H</a:t>
            </a:r>
            <a:r>
              <a:rPr lang="en-US" sz="2000" dirty="0" smtClean="0"/>
              <a:t>i” &lt; “</a:t>
            </a:r>
            <a:r>
              <a:rPr lang="en-US" sz="2000" dirty="0" smtClean="0">
                <a:solidFill>
                  <a:srgbClr val="FF0000"/>
                </a:solidFill>
              </a:rPr>
              <a:t>h</a:t>
            </a:r>
            <a:r>
              <a:rPr lang="en-US" sz="2000" dirty="0" smtClean="0"/>
              <a:t>i”</a:t>
            </a:r>
          </a:p>
          <a:p>
            <a:r>
              <a:rPr lang="en-US" sz="2400" dirty="0"/>
              <a:t>Strings can not be </a:t>
            </a:r>
            <a:r>
              <a:rPr lang="en-US" sz="2400" dirty="0" smtClean="0"/>
              <a:t>compared using </a:t>
            </a:r>
            <a:r>
              <a:rPr lang="en-US" sz="2400" dirty="0"/>
              <a:t>the </a:t>
            </a:r>
            <a:r>
              <a:rPr lang="en-US" sz="2400" dirty="0" smtClean="0"/>
              <a:t>relational operators like ‘&lt;’ or ‘==’.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str1[20]=“joy”, str2[20]=“joyous”;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637" lvl="1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	</a:t>
            </a:r>
            <a:r>
              <a:rPr lang="en-US" sz="2000" dirty="0" smtClean="0">
                <a:latin typeface="Courier New" panose="02070309020205020404" pitchFamily="49" charset="0"/>
              </a:rPr>
              <a:t>if (str1 &lt; str2)</a:t>
            </a:r>
            <a:r>
              <a:rPr lang="en-US" sz="2000" dirty="0" smtClean="0"/>
              <a:t> </a:t>
            </a:r>
            <a:r>
              <a:rPr lang="en-US" sz="2000" b="1" dirty="0">
                <a:solidFill>
                  <a:srgbClr val="FF0000"/>
                </a:solidFill>
              </a:rPr>
              <a:t>not valid</a:t>
            </a:r>
            <a:r>
              <a:rPr lang="en-US" sz="2000" b="1" dirty="0" smtClean="0">
                <a:solidFill>
                  <a:srgbClr val="FF0000"/>
                </a:solidFill>
              </a:rPr>
              <a:t>.</a:t>
            </a:r>
            <a:endParaRPr lang="en-US" sz="2400" dirty="0"/>
          </a:p>
          <a:p>
            <a:r>
              <a:rPr lang="en-US" sz="2400" dirty="0" smtClean="0"/>
              <a:t>String </a:t>
            </a:r>
            <a:r>
              <a:rPr lang="en-US" sz="2400" dirty="0"/>
              <a:t>comparison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</a:rPr>
              <a:t>	</a:t>
            </a:r>
            <a:r>
              <a:rPr lang="en-US" sz="2400" dirty="0" err="1" smtClean="0">
                <a:latin typeface="Courier New" panose="02070309020205020404" pitchFamily="49" charset="0"/>
              </a:rPr>
              <a:t>strcmp</a:t>
            </a:r>
            <a:r>
              <a:rPr lang="en-US" sz="2400" dirty="0" smtClean="0">
                <a:latin typeface="Courier New" panose="02070309020205020404" pitchFamily="49" charset="0"/>
              </a:rPr>
              <a:t>(string1, string2)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3685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7513" y="927100"/>
            <a:ext cx="8372475" cy="571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430213" y="484188"/>
            <a:ext cx="83121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/>
              <a:t>American Standard Code for Information Interchange (ASCII) Table</a:t>
            </a:r>
          </a:p>
        </p:txBody>
      </p:sp>
      <p:sp>
        <p:nvSpPr>
          <p:cNvPr id="137243" name="AutoShape 27"/>
          <p:cNvSpPr>
            <a:spLocks noChangeArrowheads="1"/>
          </p:cNvSpPr>
          <p:nvPr/>
        </p:nvSpPr>
        <p:spPr bwMode="auto">
          <a:xfrm>
            <a:off x="444500" y="1208088"/>
            <a:ext cx="1719263" cy="166687"/>
          </a:xfrm>
          <a:prstGeom prst="roundRect">
            <a:avLst>
              <a:gd name="adj" fmla="val 16667"/>
            </a:avLst>
          </a:prstGeom>
          <a:solidFill>
            <a:srgbClr val="00FF00">
              <a:alpha val="25098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97" name="Rectangle 6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235075" y="1228725"/>
            <a:ext cx="1060450" cy="12700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3" name="Line 7"/>
          <p:cNvSpPr>
            <a:spLocks noChangeShapeType="1"/>
          </p:cNvSpPr>
          <p:nvPr/>
        </p:nvSpPr>
        <p:spPr bwMode="auto">
          <a:xfrm>
            <a:off x="2195513" y="1330325"/>
            <a:ext cx="1395412" cy="24971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1624" name="AutoShape 8"/>
          <p:cNvSpPr>
            <a:spLocks noChangeArrowheads="1"/>
          </p:cNvSpPr>
          <p:nvPr/>
        </p:nvSpPr>
        <p:spPr bwMode="auto">
          <a:xfrm>
            <a:off x="3622675" y="3806825"/>
            <a:ext cx="1509713" cy="17145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AutoShape 9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851275" y="6550025"/>
            <a:ext cx="538163" cy="138113"/>
          </a:xfrm>
          <a:prstGeom prst="leftArrow">
            <a:avLst>
              <a:gd name="adj1" fmla="val 50000"/>
              <a:gd name="adj2" fmla="val 9741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37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6" dur="10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3" grpId="0" animBg="1"/>
      <p:bldP spid="111623" grpId="0" animBg="1"/>
      <p:bldP spid="1116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String Comparison</a:t>
            </a:r>
            <a:endParaRPr lang="en-US" sz="4000" dirty="0">
              <a:latin typeface="Courier New" panose="02070309020205020404" pitchFamily="49" charset="0"/>
            </a:endParaRPr>
          </a:p>
        </p:txBody>
      </p:sp>
      <p:graphicFrame>
        <p:nvGraphicFramePr>
          <p:cNvPr id="764956" name="Group 28"/>
          <p:cNvGraphicFramePr>
            <a:graphicFrameLocks noGrp="1"/>
          </p:cNvGraphicFramePr>
          <p:nvPr>
            <p:ph idx="1"/>
            <p:extLst/>
          </p:nvPr>
        </p:nvGraphicFramePr>
        <p:xfrm>
          <a:off x="155575" y="939800"/>
          <a:ext cx="8797925" cy="2405063"/>
        </p:xfrm>
        <a:graphic>
          <a:graphicData uri="http://schemas.openxmlformats.org/drawingml/2006/table">
            <a:tbl>
              <a:tblPr/>
              <a:tblGrid>
                <a:gridCol w="2932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2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Relationship</a:t>
                      </a:r>
                    </a:p>
                  </a:txBody>
                  <a:tcPr marL="94263" marR="942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Returned Value</a:t>
                      </a:r>
                    </a:p>
                  </a:txBody>
                  <a:tcPr marL="94263" marR="942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94263" marR="942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string1 &lt; string2</a:t>
                      </a:r>
                    </a:p>
                  </a:txBody>
                  <a:tcPr marL="94263" marR="942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Negative</a:t>
                      </a:r>
                    </a:p>
                  </a:txBody>
                  <a:tcPr marL="94263" marR="942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strcmp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(“Hello”, “Hi”)</a:t>
                      </a:r>
                    </a:p>
                  </a:txBody>
                  <a:tcPr marL="94263" marR="942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string1 = string2</a:t>
                      </a:r>
                    </a:p>
                  </a:txBody>
                  <a:tcPr marL="94263" marR="942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4263" marR="942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strcmp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(“Hi”, “Hi”)</a:t>
                      </a:r>
                    </a:p>
                  </a:txBody>
                  <a:tcPr marL="94263" marR="942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string1 &gt; string2</a:t>
                      </a:r>
                    </a:p>
                  </a:txBody>
                  <a:tcPr marL="94263" marR="942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Positive</a:t>
                      </a:r>
                    </a:p>
                  </a:txBody>
                  <a:tcPr marL="94263" marR="942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strcmp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(“joyous”, “joy”)</a:t>
                      </a:r>
                    </a:p>
                  </a:txBody>
                  <a:tcPr marL="94263" marR="942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62000" y="3733800"/>
            <a:ext cx="7620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If two strings are not equal, </a:t>
            </a:r>
          </a:p>
          <a:p>
            <a:r>
              <a:rPr lang="en-US" b="1" dirty="0" err="1" smtClean="0"/>
              <a:t>strcmp</a:t>
            </a:r>
            <a:r>
              <a:rPr lang="en-US" b="1" dirty="0" smtClean="0"/>
              <a:t>() returns positive value if ASCII value of first mismatching element of first string is greater than that of second string and </a:t>
            </a:r>
          </a:p>
          <a:p>
            <a:r>
              <a:rPr lang="en-US" b="1" dirty="0" smtClean="0"/>
              <a:t>negative value if ASCII value of first mismatching element of first string is less than that of second string.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9646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639762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914400"/>
            <a:ext cx="4191001" cy="51816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main(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char str1[20] = "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fresh“, str2[20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"refresh";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result;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(str1, "fresh");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("%s and fresh: %d\n", str1, result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(str1, "Fresh");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("%s and Fresh: %d\n", str1, result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(str1, str2);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("%s and %s: %d\n", str1, str2, result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76800" y="1066800"/>
            <a:ext cx="3657600" cy="50292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(str1, "f");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("%s and f: %d\n", str1, result);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gets(str1); gets(str2);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sz="1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(str1, str2) == 0)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("%s == %s", str1, str2);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else if(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(str1, str2) &lt; 0)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("%s &lt; %s", str1, str2);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else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("%s &gt; %s", str1, str2);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52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19200"/>
            <a:ext cx="3581400" cy="4876800"/>
          </a:xfrm>
          <a:ln w="1270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#include &lt;</a:t>
            </a:r>
            <a:r>
              <a:rPr lang="en-US" sz="1800" dirty="0" err="1" smtClean="0"/>
              <a:t>stdio.h</a:t>
            </a:r>
            <a:r>
              <a:rPr lang="en-US" sz="1800" dirty="0" smtClean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#</a:t>
            </a:r>
            <a:r>
              <a:rPr lang="en-US" sz="1800" dirty="0" smtClean="0"/>
              <a:t>include &lt;</a:t>
            </a:r>
            <a:r>
              <a:rPr lang="en-US" sz="1800" dirty="0" err="1" smtClean="0"/>
              <a:t>string.h</a:t>
            </a:r>
            <a:r>
              <a:rPr lang="en-US" sz="1800" dirty="0" smtClean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 </a:t>
            </a:r>
            <a:r>
              <a:rPr lang="en-US" sz="1800" dirty="0" err="1" smtClean="0"/>
              <a:t>int</a:t>
            </a:r>
            <a:r>
              <a:rPr lang="en-US" sz="1800" dirty="0" smtClean="0"/>
              <a:t> main 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 char str1[15];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 char str2[15];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 </a:t>
            </a:r>
            <a:r>
              <a:rPr lang="en-US" sz="1800" dirty="0" err="1" smtClean="0"/>
              <a:t>int</a:t>
            </a:r>
            <a:r>
              <a:rPr lang="en-US" sz="1800" dirty="0" smtClean="0"/>
              <a:t> ret</a:t>
            </a:r>
            <a:r>
              <a:rPr lang="en-US" sz="1800" dirty="0" smtClean="0"/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 </a:t>
            </a:r>
            <a:r>
              <a:rPr lang="en-US" sz="1800" dirty="0" err="1" smtClean="0"/>
              <a:t>strcpy</a:t>
            </a:r>
            <a:r>
              <a:rPr lang="en-US" sz="1800" dirty="0" smtClean="0"/>
              <a:t>(str1, "</a:t>
            </a:r>
            <a:r>
              <a:rPr lang="en-US" sz="1800" dirty="0" err="1" smtClean="0"/>
              <a:t>abcdef</a:t>
            </a:r>
            <a:r>
              <a:rPr lang="en-US" sz="1800" dirty="0" smtClean="0"/>
              <a:t>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 </a:t>
            </a:r>
            <a:r>
              <a:rPr lang="en-US" sz="1800" dirty="0" err="1" smtClean="0"/>
              <a:t>strcpy</a:t>
            </a:r>
            <a:r>
              <a:rPr lang="en-US" sz="1800" dirty="0" smtClean="0"/>
              <a:t>(str2, "ABCDEF</a:t>
            </a:r>
            <a:r>
              <a:rPr lang="en-US" sz="1800" dirty="0" smtClean="0"/>
              <a:t>");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 ret = </a:t>
            </a:r>
            <a:r>
              <a:rPr lang="en-US" sz="1800" dirty="0" err="1" smtClean="0"/>
              <a:t>strncmp</a:t>
            </a:r>
            <a:r>
              <a:rPr lang="en-US" sz="1800" dirty="0" smtClean="0"/>
              <a:t>(str1, str2, 4);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48200" y="1219200"/>
            <a:ext cx="3810000" cy="4876800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endParaRPr lang="en-US" sz="1800" dirty="0" smtClean="0"/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      if(ret &lt; 0)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         {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    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("str1 is less than str2");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          }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      else if(ret &gt; 0)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          {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   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("str2 is less than str1");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           }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else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           {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("str1 is equal to str2");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}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  return 0;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1800" dirty="0" smtClean="0"/>
              <a:t> }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17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>
            <a:normAutofit/>
          </a:bodyPr>
          <a:lstStyle/>
          <a:p>
            <a:r>
              <a:rPr lang="en-US" sz="2700" b="1" dirty="0" smtClean="0"/>
              <a:t>C Program to mask password text with </a:t>
            </a:r>
            <a:r>
              <a:rPr lang="en-US" sz="2700" b="1" dirty="0" smtClean="0"/>
              <a:t> </a:t>
            </a:r>
            <a:r>
              <a:rPr lang="en-US" sz="3600" b="1" dirty="0" smtClean="0"/>
              <a:t>*</a:t>
            </a:r>
            <a:r>
              <a:rPr lang="en-US" sz="3600" b="1" dirty="0" smtClean="0"/>
              <a:t> </a:t>
            </a:r>
            <a:r>
              <a:rPr lang="en-US" sz="3600" b="1" dirty="0" smtClean="0"/>
              <a:t>: </a:t>
            </a:r>
            <a:r>
              <a:rPr lang="en-US" sz="2700" b="1" dirty="0" smtClean="0"/>
              <a:t>Using </a:t>
            </a:r>
            <a:r>
              <a:rPr lang="en-US" sz="2700" b="1" dirty="0" err="1" smtClean="0">
                <a:solidFill>
                  <a:srgbClr val="FF0000"/>
                </a:solidFill>
              </a:rPr>
              <a:t>getch</a:t>
            </a:r>
            <a:r>
              <a:rPr lang="en-US" sz="2700" b="1" dirty="0" smtClean="0">
                <a:solidFill>
                  <a:srgbClr val="FF0000"/>
                </a:solidFill>
              </a:rPr>
              <a:t>()</a:t>
            </a:r>
            <a:r>
              <a:rPr lang="en-US" sz="3600" b="1" dirty="0" smtClean="0"/>
              <a:t> 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879764" y="1107281"/>
            <a:ext cx="3657600" cy="3693319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void main()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char </a:t>
            </a:r>
            <a:r>
              <a:rPr lang="en-US" dirty="0" err="1" smtClean="0"/>
              <a:t>pasword</a:t>
            </a:r>
            <a:r>
              <a:rPr lang="en-US" dirty="0" smtClean="0"/>
              <a:t>[10],</a:t>
            </a:r>
            <a:r>
              <a:rPr lang="en-US" dirty="0" err="1" smtClean="0"/>
              <a:t>usrname</a:t>
            </a:r>
            <a:r>
              <a:rPr lang="en-US" dirty="0" smtClean="0"/>
              <a:t>[10], </a:t>
            </a:r>
            <a:r>
              <a:rPr lang="en-US" dirty="0" err="1" smtClean="0"/>
              <a:t>ch</a:t>
            </a:r>
            <a:r>
              <a:rPr lang="en-US" dirty="0" smtClean="0"/>
              <a:t>;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("Enter User name: ");</a:t>
            </a:r>
          </a:p>
          <a:p>
            <a:r>
              <a:rPr lang="en-US" dirty="0" smtClean="0"/>
              <a:t> gets(</a:t>
            </a:r>
            <a:r>
              <a:rPr lang="en-US" dirty="0" err="1" smtClean="0"/>
              <a:t>usrname</a:t>
            </a:r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("Enter the password &lt;any 8 characters&gt;: ");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10990" y="1107281"/>
            <a:ext cx="3467100" cy="3693319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dirty="0" smtClean="0"/>
              <a:t>for(</a:t>
            </a:r>
            <a:r>
              <a:rPr lang="en-US" dirty="0" err="1" smtClean="0"/>
              <a:t>i</a:t>
            </a:r>
            <a:r>
              <a:rPr lang="en-US" dirty="0" smtClean="0"/>
              <a:t>=0;i&lt;8;i</a:t>
            </a:r>
            <a:r>
              <a:rPr lang="en-US" dirty="0" smtClean="0"/>
              <a:t>++)</a:t>
            </a:r>
          </a:p>
          <a:p>
            <a:r>
              <a:rPr lang="en-US" dirty="0" smtClean="0"/>
              <a:t> </a:t>
            </a:r>
            <a:r>
              <a:rPr lang="en-US" dirty="0" smtClean="0"/>
              <a:t>   {</a:t>
            </a:r>
            <a:endParaRPr lang="en-US" dirty="0" smtClean="0"/>
          </a:p>
          <a:p>
            <a:r>
              <a:rPr lang="en-US" dirty="0" smtClean="0"/>
              <a:t>  </a:t>
            </a:r>
            <a:r>
              <a:rPr lang="en-US" dirty="0" smtClean="0"/>
              <a:t>   </a:t>
            </a:r>
            <a:r>
              <a:rPr lang="en-US" dirty="0" err="1" smtClean="0"/>
              <a:t>ch</a:t>
            </a:r>
            <a:r>
              <a:rPr lang="en-US" dirty="0" smtClean="0"/>
              <a:t> </a:t>
            </a:r>
            <a:r>
              <a:rPr lang="en-US" dirty="0" smtClean="0"/>
              <a:t>= </a:t>
            </a:r>
            <a:r>
              <a:rPr lang="en-US" dirty="0" err="1" smtClean="0"/>
              <a:t>getch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 </a:t>
            </a:r>
            <a:r>
              <a:rPr lang="en-US" dirty="0" smtClean="0"/>
              <a:t>   </a:t>
            </a:r>
            <a:r>
              <a:rPr lang="en-US" dirty="0" err="1" smtClean="0"/>
              <a:t>pasword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 = </a:t>
            </a:r>
            <a:r>
              <a:rPr lang="en-US" dirty="0" err="1" smtClean="0"/>
              <a:t>ch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</a:t>
            </a:r>
            <a:r>
              <a:rPr lang="en-US" dirty="0" smtClean="0"/>
              <a:t>   </a:t>
            </a:r>
            <a:r>
              <a:rPr lang="en-US" dirty="0" err="1" smtClean="0"/>
              <a:t>ch</a:t>
            </a:r>
            <a:r>
              <a:rPr lang="en-US" dirty="0" smtClean="0"/>
              <a:t> </a:t>
            </a:r>
            <a:r>
              <a:rPr lang="en-US" dirty="0" smtClean="0"/>
              <a:t>= '*' ;</a:t>
            </a:r>
          </a:p>
          <a:p>
            <a:r>
              <a:rPr lang="en-US" dirty="0" smtClean="0"/>
              <a:t>  </a:t>
            </a:r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("%c</a:t>
            </a:r>
            <a:r>
              <a:rPr lang="en-US" dirty="0" smtClean="0"/>
              <a:t>", </a:t>
            </a:r>
            <a:r>
              <a:rPr lang="en-US" dirty="0" err="1" smtClean="0"/>
              <a:t>ch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</a:t>
            </a:r>
            <a:r>
              <a:rPr lang="en-US" dirty="0" smtClean="0"/>
              <a:t>   }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pasword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 = '\0';</a:t>
            </a:r>
          </a:p>
          <a:p>
            <a:endParaRPr lang="en-US" dirty="0" smtClean="0"/>
          </a:p>
          <a:p>
            <a:r>
              <a:rPr lang="en-US" dirty="0" smtClean="0"/>
              <a:t>   }</a:t>
            </a:r>
            <a:endParaRPr lang="en-US" dirty="0"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1415</Words>
  <Application>Microsoft Office PowerPoint</Application>
  <PresentationFormat>On-screen Show (4:3)</PresentationFormat>
  <Paragraphs>443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Courier New</vt:lpstr>
      <vt:lpstr>Franklin Gothic Book</vt:lpstr>
      <vt:lpstr>Perpetua</vt:lpstr>
      <vt:lpstr>Times New Roman</vt:lpstr>
      <vt:lpstr>Wingdings 2</vt:lpstr>
      <vt:lpstr>Office Theme</vt:lpstr>
      <vt:lpstr>Equity</vt:lpstr>
      <vt:lpstr>CSE 115 Programming Language I </vt:lpstr>
      <vt:lpstr>Lecture 12  Special String Functions (Requiring &lt;string.h&gt; )</vt:lpstr>
      <vt:lpstr>strlen() example</vt:lpstr>
      <vt:lpstr>String Assignment</vt:lpstr>
      <vt:lpstr>Function strcpy()</vt:lpstr>
      <vt:lpstr>Function strcpy()</vt:lpstr>
      <vt:lpstr>Function strncpy()</vt:lpstr>
      <vt:lpstr>Function strncpy()</vt:lpstr>
      <vt:lpstr>Function strncpy()</vt:lpstr>
      <vt:lpstr>strcpy and strncpy example</vt:lpstr>
      <vt:lpstr>Result</vt:lpstr>
      <vt:lpstr>String Appending</vt:lpstr>
      <vt:lpstr>Function strcat()</vt:lpstr>
      <vt:lpstr>Function strcat()</vt:lpstr>
      <vt:lpstr>Function strncat()</vt:lpstr>
      <vt:lpstr>Function strncat()</vt:lpstr>
      <vt:lpstr>strcat and strncat example</vt:lpstr>
      <vt:lpstr>String Comparison: strcmp()</vt:lpstr>
      <vt:lpstr>PowerPoint Presentation</vt:lpstr>
      <vt:lpstr>String Comparison</vt:lpstr>
      <vt:lpstr>strcmp Example</vt:lpstr>
      <vt:lpstr>strncmp Example</vt:lpstr>
      <vt:lpstr>C Program to mask password text with  * : Using getch()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Rummana Rahman</cp:lastModifiedBy>
  <cp:revision>51</cp:revision>
  <dcterms:created xsi:type="dcterms:W3CDTF">2016-06-27T04:33:47Z</dcterms:created>
  <dcterms:modified xsi:type="dcterms:W3CDTF">2020-03-21T10:41:06Z</dcterms:modified>
</cp:coreProperties>
</file>